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e722f80-95ee-ad41-5cdb-e27568dd0281}">
          <p14:sldIdLst>
            <p14:sldId id="256"/>
            <p14:sldId id="257"/>
            <p14:sldId id="258"/>
            <p14:sldId id="259"/>
          </p14:sldIdLst>
        </p14:section>
        <p14:section name="Method" id="{d7f804af-9cee-4f13-8918-b7c2b27097ba}">
          <p14:sldIdLst>
            <p14:sldId id="260"/>
            <p14:sldId id="261"/>
            <p14:sldId id="262"/>
            <p14:sldId id="263"/>
          </p14:sldIdLst>
        </p14:section>
        <p14:section name="Results" id="{c26619ab-2900-235c-0a91-90eef21fdd0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Conclusion" id="{0ba3f1e6-4adb-f3be-6145-486c2f0522b4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 vs TrumpCount</c:v>
                </c:pt>
              </c:strCache>
            </c:strRef>
          </c:tx>
          <c:spPr>
            <a:solidFill>
              <a:srgbClr val="5B6B7D"/>
            </a:solidFill>
            <a:effectLst/>
          </c:spPr>
          <c:invertIfNegative val="0"/>
          <c:dLbls>
            <c:numFmt formatCode="+0.0;−0.0;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BF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DE2A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>+ entropy 0.03</c:v>
                  </c:pt>
                  <c:pt idx="2">
                    <c:v>+ lr 3e-4</c:v>
                  </c:pt>
                  <c:pt idx="3">
                    <c:v>vs heuristics</c:v>
                  </c:pt>
                  <c:pt idx="4">
                    <c:v>No win bonus</c:v>
                  </c:pt>
                  <c:pt idx="5">
                    <c:v>No bonus + lr 3e-4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-4.6</c:v>
                </c:pt>
                <c:pt idx="1">
                  <c:v>-1.7</c:v>
                </c:pt>
                <c:pt idx="2">
                  <c:v>-2.4</c:v>
                </c:pt>
                <c:pt idx="3">
                  <c:v>-2.2</c:v>
                </c:pt>
                <c:pt idx="4">
                  <c:v>-0.4</c:v>
                </c:pt>
                <c:pt idx="5">
                  <c:v>1</c:v>
                </c:pt>
              </c:numCache>
            </c:numRef>
          </c:val>
        </c:ser>
        <c:dLbls>
          <c:numFmt formatCode="+0.0;−0.0;0" sourceLinked="0"/>
          <c:txPr>
            <a:bodyPr/>
            <a:lstStyle/>
            <a:p>
              <a:pPr>
                <a:defRPr b="0" i="0" strike="noStrike" sz="1100" u="none">
                  <a:solidFill>
                    <a:srgbClr val="E6EBF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6EBF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-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Games won vs Random</c:v>
                </c:pt>
              </c:strCache>
            </c:strRef>
          </c:tx>
          <c:spPr>
            <a:solidFill>
              <a:srgbClr val="5B6B7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BF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DE2A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Random</c:v>
                  </c:pt>
                  <c:pt idx="1">
                    <c:v>Heuristic</c:v>
                  </c:pt>
                  <c:pt idx="2">
                    <c:v>TrumpCount</c:v>
                  </c:pt>
                  <c:pt idx="3">
                    <c:v>PPO agent</c:v>
                  </c:pt>
                  <c:pt idx="4">
                    <c:v>Cheater*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51</c:v>
                </c:pt>
                <c:pt idx="1">
                  <c:v>62</c:v>
                </c:pt>
                <c:pt idx="2">
                  <c:v>72</c:v>
                </c:pt>
                <c:pt idx="3">
                  <c:v>83</c:v>
                </c:pt>
                <c:pt idx="4">
                  <c:v>99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E6EBF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6EBF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DE2A6"/>
            </a:solidFill>
            <a:effectLst/>
          </c:spPr>
          <c:invertIfNegative val="0"/>
          <c:dLbls>
            <c:numFmt formatCode="+0.0;−0.0;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BF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250k</c:v>
                  </c:pt>
                  <c:pt idx="2">
                    <c:v>500k</c:v>
                  </c:pt>
                  <c:pt idx="3">
                    <c:v>1M</c:v>
                  </c:pt>
                  <c:pt idx="4">
                    <c:v>1.5M</c:v>
                  </c:pt>
                  <c:pt idx="5">
                    <c:v>2M</c:v>
                  </c:pt>
                  <c:pt idx="6">
                    <c:v>2.5M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12.5</c:v>
                </c:pt>
                <c:pt idx="1">
                  <c:v>3</c:v>
                </c:pt>
                <c:pt idx="2">
                  <c:v>1.5</c:v>
                </c:pt>
                <c:pt idx="3">
                  <c:v>1.3</c:v>
                </c:pt>
                <c:pt idx="4">
                  <c:v>0.7</c:v>
                </c:pt>
                <c:pt idx="5">
                  <c:v>0.2</c:v>
                </c:pt>
                <c:pt idx="6">
                  <c:v>0</c:v>
                </c:pt>
              </c:numCache>
            </c:numRef>
          </c:val>
        </c:ser>
        <c:dLbls>
          <c:numFmt formatCode="+0.0;−0.0;0.0" sourceLinked="0"/>
          <c:txPr>
            <a:bodyPr/>
            <a:lstStyle/>
            <a:p>
              <a:pPr>
                <a:defRPr b="0" i="0" strike="noStrike" sz="1100" u="none">
                  <a:solidFill>
                    <a:srgbClr val="E6EBF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99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an RL agent that learns two-player Belote from scratch with PPO self-play.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games: first to 501 points, about 10 rounds per game. Duplicate games: each game is played twice with the same sequence of deals and hands swapped. 1 000 games per match-up, ±2 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Rounds won: single rounds, duplicate deals, 6 000 rounds per match-up (1 200 for the cheater). Games won: full games to 501 points, about 10 rounds each. The cheater is an exact dynamic-programming player that sees the opponent's hand and maximises its expected point margin against a uniformly random opponent: no honest player can do better against Random.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margin per round (agent points minus opponent points), final agent re-evaluated on 6 000 rounds per opponent (±0.4–0.6).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configuration (no win bonus, lr 3e-4), three different random seeds. Each agent re-evaluated at 2M games on 6 000 duplicate games per opponent.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Measured over 3 000 rounds vs TrumpCount: 743 such Ten leads out of 11 246 leads; the opponent actually held the Ace in 114 of them (15%). The deal we lost 21 points on was one of the unlucky 15%, not a memory error. Adding an explicit table of the opponent's possible cards did not change this behaviour or the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874520"/>
            <a:ext cx="82296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42900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 TO PLAY BELOTE  ·  MID-TERM REVIEW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MID-TERM REVIEW  ·  TECHNION  ·  2026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874520"/>
            <a:ext cx="8229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Learning to Play Belote with Reinforcement Learning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429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PPO self-play on a two-player Belote environment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Noa Curiel  &amp;  Yoni Benabou</a:t>
            </a:r>
            <a:endParaRPr lang="en-US" sz="1600" dirty="0"/>
          </a:p>
        </p:txBody>
      </p:sp>
      <p:sp>
        <p:nvSpPr>
          <p:cNvPr id="6" name="suit tile 0"/>
          <p:cNvSpPr/>
          <p:nvPr/>
        </p:nvSpPr>
        <p:spPr>
          <a:xfrm>
            <a:off x="9372600" y="2011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72600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♠</a:t>
            </a:r>
            <a:endParaRPr lang="en-US" sz="3400" dirty="0"/>
          </a:p>
        </p:txBody>
      </p:sp>
      <p:sp>
        <p:nvSpPr>
          <p:cNvPr id="8" name="suit tile 1"/>
          <p:cNvSpPr/>
          <p:nvPr/>
        </p:nvSpPr>
        <p:spPr>
          <a:xfrm>
            <a:off x="10515600" y="2011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0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2"/>
                </a:solidFill>
              </a:rPr>
              <a:t>♥</a:t>
            </a:r>
            <a:endParaRPr lang="en-US" sz="3400" dirty="0"/>
          </a:p>
        </p:txBody>
      </p:sp>
      <p:sp>
        <p:nvSpPr>
          <p:cNvPr id="10" name="suit tile 2"/>
          <p:cNvSpPr/>
          <p:nvPr/>
        </p:nvSpPr>
        <p:spPr>
          <a:xfrm>
            <a:off x="9372600" y="3154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72600" y="3154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2"/>
                </a:solidFill>
              </a:rPr>
              <a:t>♦</a:t>
            </a:r>
            <a:endParaRPr lang="en-US" sz="3400" dirty="0"/>
          </a:p>
        </p:txBody>
      </p:sp>
      <p:sp>
        <p:nvSpPr>
          <p:cNvPr id="12" name="suit tile 3"/>
          <p:cNvSpPr/>
          <p:nvPr/>
        </p:nvSpPr>
        <p:spPr>
          <a:xfrm>
            <a:off x="10515600" y="3154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515600" y="3154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♣</a:t>
            </a:r>
            <a:endParaRPr lang="en-US" sz="3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MOTIVATION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Why Belote?</a:t>
            </a:r>
            <a:endParaRPr lang="en-US" sz="3400" dirty="0"/>
          </a:p>
        </p:txBody>
      </p:sp>
      <p:sp>
        <p:nvSpPr>
          <p:cNvPr id="4" name="why card 0"/>
          <p:cNvSpPr/>
          <p:nvPr/>
        </p:nvSpPr>
        <p:spPr>
          <a:xfrm>
            <a:off x="548640" y="178308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why icon bg 0"/>
          <p:cNvSpPr/>
          <p:nvPr/>
        </p:nvSpPr>
        <p:spPr>
          <a:xfrm>
            <a:off x="822960" y="2075688"/>
            <a:ext cx="658368" cy="65836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221992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9842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 popular strategic game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37744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One of the most played card games in France, with a Belote tournament held every year at the Technion.</a:t>
            </a:r>
            <a:endParaRPr lang="en-US" sz="1500" dirty="0"/>
          </a:p>
        </p:txBody>
      </p:sp>
      <p:sp>
        <p:nvSpPr>
          <p:cNvPr id="9" name="why card 1"/>
          <p:cNvSpPr/>
          <p:nvPr/>
        </p:nvSpPr>
        <p:spPr>
          <a:xfrm>
            <a:off x="548640" y="324612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why icon bg 1"/>
          <p:cNvSpPr/>
          <p:nvPr/>
        </p:nvSpPr>
        <p:spPr>
          <a:xfrm>
            <a:off x="822960" y="3538728"/>
            <a:ext cx="658368" cy="65836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3685032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783080" y="344728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 real AI challenge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783080" y="384048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Imperfect information: the opponent's hand is hidden, so every decision is a bet on what they hold and on how the trick will unfold.</a:t>
            </a:r>
            <a:endParaRPr lang="en-US" sz="1500" dirty="0"/>
          </a:p>
        </p:txBody>
      </p:sp>
      <p:sp>
        <p:nvSpPr>
          <p:cNvPr id="14" name="why card 2"/>
          <p:cNvSpPr/>
          <p:nvPr/>
        </p:nvSpPr>
        <p:spPr>
          <a:xfrm>
            <a:off x="548640" y="470916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why icon bg 2"/>
          <p:cNvSpPr/>
          <p:nvPr/>
        </p:nvSpPr>
        <p:spPr>
          <a:xfrm>
            <a:off x="822960" y="5001768"/>
            <a:ext cx="658368" cy="65836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5148072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83080" y="491032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Our motivation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1783080" y="530352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As long-time players, we wanted to see whether an RL agent can rediscover human conventions — or beat them — purely through self-play.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THE GAME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Our two-player Belote variant</a:t>
            </a:r>
            <a:endParaRPr lang="en-US" sz="3400" dirty="0"/>
          </a:p>
        </p:txBody>
      </p:sp>
      <p:sp>
        <p:nvSpPr>
          <p:cNvPr id="4" name="rules card"/>
          <p:cNvSpPr/>
          <p:nvPr/>
        </p:nvSpPr>
        <p:spPr>
          <a:xfrm>
            <a:off x="548640" y="1783080"/>
            <a:ext cx="539496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32-card deck, 8 cards per player — 16 stay hidden all round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Trump suit drawn at random each round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Must follow suit; otherwise must trump; must over-trump when trump is led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Highest card wins the trick (trump beats every other suit)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+10 for the last trick (dix de der), +20 for King + Queen of trump (belote-rebelote)</a:t>
            </a:r>
            <a:endParaRPr lang="en-US" sz="1500" dirty="0"/>
          </a:p>
        </p:txBody>
      </p:sp>
      <p:sp>
        <p:nvSpPr>
          <p:cNvPr id="7" name="points card"/>
          <p:cNvSpPr/>
          <p:nvPr/>
        </p:nvSpPr>
        <p:spPr>
          <a:xfrm>
            <a:off x="6217920" y="1783080"/>
            <a:ext cx="539496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NON-TRUMP</a:t>
            </a:r>
            <a:endParaRPr lang="en-US" sz="1100" dirty="0"/>
          </a:p>
        </p:txBody>
      </p:sp>
      <p:pic>
        <p:nvPicPr>
          <p:cNvPr id="9" name="NON-TRUMP cards photo" descr="cards_nontrum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331720"/>
            <a:ext cx="4846320" cy="111884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575213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pts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263271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pts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933380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pts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597505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pts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297529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pts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254827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pts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3931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TRUMP</a:t>
            </a:r>
            <a:endParaRPr lang="en-US" sz="1100" dirty="0"/>
          </a:p>
        </p:txBody>
      </p:sp>
      <p:pic>
        <p:nvPicPr>
          <p:cNvPr id="17" name="TRUMP cards photo" descr="cards_tru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4251960"/>
            <a:ext cx="4846320" cy="107845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530902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pts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191457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pts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845272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pts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8505828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pts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9146162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pts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9799977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pts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10507715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pts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6492240" y="57150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In trump, the Jack and the Nine jump to the top.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SCOPE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From four-player Coinche to two-player Belote</a:t>
            </a:r>
            <a:endParaRPr lang="en-US" sz="3400" dirty="0"/>
          </a:p>
        </p:txBody>
      </p:sp>
      <p:sp>
        <p:nvSpPr>
          <p:cNvPr id="4" name="scope card 0"/>
          <p:cNvSpPr/>
          <p:nvPr/>
        </p:nvSpPr>
        <p:spPr>
          <a:xfrm>
            <a:off x="548640" y="1828800"/>
            <a:ext cx="3474720" cy="402336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 IDEA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Four-player Coinche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5468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Two teams of two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Bidding &amp; contracts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Full original rules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023360" y="3566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→</a:t>
            </a:r>
            <a:endParaRPr lang="en-US" sz="2200" dirty="0"/>
          </a:p>
        </p:txBody>
      </p:sp>
      <p:sp>
        <p:nvSpPr>
          <p:cNvPr id="9" name="scope card 1"/>
          <p:cNvSpPr/>
          <p:nvPr/>
        </p:nvSpPr>
        <p:spPr>
          <a:xfrm>
            <a:off x="4343400" y="1828800"/>
            <a:ext cx="3474720" cy="402336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7720" y="2103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Too noisy for PPO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15468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3 hidden hands + a partner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Reward shared by the team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Bidding adds huge variance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818120" y="3566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→</a:t>
            </a:r>
            <a:endParaRPr lang="en-US" sz="2200" dirty="0"/>
          </a:p>
        </p:txBody>
      </p:sp>
      <p:sp>
        <p:nvSpPr>
          <p:cNvPr id="14" name="scope card 2"/>
          <p:cNvSpPr/>
          <p:nvPr/>
        </p:nvSpPr>
        <p:spPr>
          <a:xfrm>
            <a:off x="8138160" y="1828800"/>
            <a:ext cx="3474720" cy="402336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0" y="2103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CHOICE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Two-player Belote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15468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One opponent, zero-sum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Keeps trumps, cutting, hidden info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Single shared network in self-play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PIPELINE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Development pipeline</a:t>
            </a:r>
            <a:endParaRPr lang="en-US" sz="3400" dirty="0"/>
          </a:p>
        </p:txBody>
      </p:sp>
      <p:sp>
        <p:nvSpPr>
          <p:cNvPr id="4" name="pipeline step 0"/>
          <p:cNvSpPr/>
          <p:nvPr/>
        </p:nvSpPr>
        <p:spPr>
          <a:xfrm>
            <a:off x="5486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Rule engine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Legal moves, scoring</a:t>
            </a:r>
            <a:endParaRPr lang="en-US" sz="1200" dirty="0"/>
          </a:p>
        </p:txBody>
      </p:sp>
      <p:sp>
        <p:nvSpPr>
          <p:cNvPr id="8" name="pipeline step 1"/>
          <p:cNvSpPr/>
          <p:nvPr/>
        </p:nvSpPr>
        <p:spPr>
          <a:xfrm>
            <a:off x="21488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134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3134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Gym env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3134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598-dim obs, action mask</a:t>
            </a:r>
            <a:endParaRPr lang="en-US" sz="1200" dirty="0"/>
          </a:p>
        </p:txBody>
      </p:sp>
      <p:sp>
        <p:nvSpPr>
          <p:cNvPr id="12" name="pipeline step 2"/>
          <p:cNvSpPr/>
          <p:nvPr/>
        </p:nvSpPr>
        <p:spPr>
          <a:xfrm>
            <a:off x="37490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136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9136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Baselines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9136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4 reference agents</a:t>
            </a:r>
            <a:endParaRPr lang="en-US" sz="1200" dirty="0"/>
          </a:p>
        </p:txBody>
      </p:sp>
      <p:sp>
        <p:nvSpPr>
          <p:cNvPr id="16" name="pipeline step 3"/>
          <p:cNvSpPr/>
          <p:nvPr/>
        </p:nvSpPr>
        <p:spPr>
          <a:xfrm>
            <a:off x="53492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5138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5138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Actor-critic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5138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Shared policy + value</a:t>
            </a:r>
            <a:endParaRPr lang="en-US" sz="1200" dirty="0"/>
          </a:p>
        </p:txBody>
      </p:sp>
      <p:sp>
        <p:nvSpPr>
          <p:cNvPr id="20" name="pipeline step 4"/>
          <p:cNvSpPr/>
          <p:nvPr/>
        </p:nvSpPr>
        <p:spPr>
          <a:xfrm>
            <a:off x="69494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140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1140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Self-play + GAE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1140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Experience &amp; advantages</a:t>
            </a:r>
            <a:endParaRPr lang="en-US" sz="1200" dirty="0"/>
          </a:p>
        </p:txBody>
      </p:sp>
      <p:sp>
        <p:nvSpPr>
          <p:cNvPr id="24" name="pipeline step 5"/>
          <p:cNvSpPr/>
          <p:nvPr/>
        </p:nvSpPr>
        <p:spPr>
          <a:xfrm>
            <a:off x="85496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7142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7142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PPO update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7142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Clipped objective</a:t>
            </a:r>
            <a:endParaRPr lang="en-US" sz="1200" dirty="0"/>
          </a:p>
        </p:txBody>
      </p:sp>
      <p:sp>
        <p:nvSpPr>
          <p:cNvPr id="28" name="pipeline step 6"/>
          <p:cNvSpPr/>
          <p:nvPr/>
        </p:nvSpPr>
        <p:spPr>
          <a:xfrm>
            <a:off x="101498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3144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03144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Evaluation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03144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Duplicate deals</a:t>
            </a:r>
            <a:endParaRPr lang="en-US" sz="1200" dirty="0"/>
          </a:p>
        </p:txBody>
      </p:sp>
      <p:sp>
        <p:nvSpPr>
          <p:cNvPr id="32" name="principle card"/>
          <p:cNvSpPr/>
          <p:nvPr/>
        </p:nvSpPr>
        <p:spPr>
          <a:xfrm>
            <a:off x="548640" y="4434840"/>
            <a:ext cx="11064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" y="4645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DESIGN PRINCIPLE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" y="49834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Every stage is validated by its own test suite (7 in total) before the next one is built on it. Two silent bugs still slipped through — found by code review and by analysing why the agent did not learn, then locked in by new tests.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ENVIRONMENT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The Belote environment</a:t>
            </a:r>
            <a:endParaRPr lang="en-US" sz="3400" dirty="0"/>
          </a:p>
        </p:txBody>
      </p:sp>
      <p:sp>
        <p:nvSpPr>
          <p:cNvPr id="4" name="env card 0"/>
          <p:cNvSpPr/>
          <p:nvPr/>
        </p:nvSpPr>
        <p:spPr>
          <a:xfrm>
            <a:off x="548640" y="1783080"/>
            <a:ext cx="3474720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5915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598-dim vector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803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My hand (32) + cards played (32)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Trump suit (4), both scores (2)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Who won each trick: me / opponent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Per-trick detail: my card, theirs, leader</a:t>
            </a:r>
            <a:endParaRPr lang="en-US" sz="1500" dirty="0"/>
          </a:p>
        </p:txBody>
      </p:sp>
      <p:sp>
        <p:nvSpPr>
          <p:cNvPr id="8" name="env card 1"/>
          <p:cNvSpPr/>
          <p:nvPr/>
        </p:nvSpPr>
        <p:spPr>
          <a:xfrm>
            <a:off x="4343400" y="1783080"/>
            <a:ext cx="3474720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772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35915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 of 32 cards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8803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Illegal cards masked to −∞ before the softmax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agent only ever samples a legal move</a:t>
            </a:r>
            <a:endParaRPr lang="en-US" sz="1500" dirty="0"/>
          </a:p>
        </p:txBody>
      </p:sp>
      <p:sp>
        <p:nvSpPr>
          <p:cNvPr id="12" name="env card 2"/>
          <p:cNvSpPr/>
          <p:nvPr/>
        </p:nvSpPr>
        <p:spPr>
          <a:xfrm>
            <a:off x="8138160" y="1783080"/>
            <a:ext cx="3474720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235915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Points actually won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8803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Trick points, normalized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+ dix de der, + belote-rebelote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±1 win bonus (removed — see results)</a:t>
            </a:r>
            <a:endParaRPr lang="en-US" sz="1500" dirty="0"/>
          </a:p>
        </p:txBody>
      </p:sp>
      <p:sp>
        <p:nvSpPr>
          <p:cNvPr id="16" name="bug card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52303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BUG FIXED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532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Trick winners were stored as an absolute seat (0/1) while everything else was relative to the active player — breaking the perspective a shared self-play network relies on. Re-encoded as me / opponent / not played.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BASELINES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Hand-crafted reference opponents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Strength = average point margin per game against the Random agent (duplicate deals, 10 000 games each)</a:t>
            </a:r>
            <a:endParaRPr lang="en-US" sz="1300" dirty="0"/>
          </a:p>
        </p:txBody>
      </p:sp>
      <p:sp>
        <p:nvSpPr>
          <p:cNvPr id="5" name="baseline Random"/>
          <p:cNvSpPr/>
          <p:nvPr/>
        </p:nvSpPr>
        <p:spPr>
          <a:xfrm>
            <a:off x="548640" y="2194560"/>
            <a:ext cx="110642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3317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Random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926080" y="233172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Plays a uniformly random legal card. Sanity floor.</a:t>
            </a:r>
            <a:endParaRPr lang="en-US" sz="1300" dirty="0"/>
          </a:p>
        </p:txBody>
      </p:sp>
      <p:sp>
        <p:nvSpPr>
          <p:cNvPr id="8" name="baseline track Random"/>
          <p:cNvSpPr/>
          <p:nvPr/>
        </p:nvSpPr>
        <p:spPr>
          <a:xfrm>
            <a:off x="8229600" y="2523744"/>
            <a:ext cx="2377440" cy="182880"/>
          </a:xfrm>
          <a:prstGeom prst="rect">
            <a:avLst/>
          </a:prstGeom>
          <a:solidFill>
            <a:schemeClr val="bg1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9" name="baseline bar Random"/>
          <p:cNvSpPr/>
          <p:nvPr/>
        </p:nvSpPr>
        <p:spPr>
          <a:xfrm>
            <a:off x="8229600" y="2523744"/>
            <a:ext cx="118872" cy="18288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744200" y="2377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+0.4</a:t>
            </a:r>
            <a:endParaRPr lang="en-US" sz="1600" dirty="0"/>
          </a:p>
        </p:txBody>
      </p:sp>
      <p:sp>
        <p:nvSpPr>
          <p:cNvPr id="11" name="baseline Heuristic"/>
          <p:cNvSpPr/>
          <p:nvPr/>
        </p:nvSpPr>
        <p:spPr>
          <a:xfrm>
            <a:off x="548640" y="3182112"/>
            <a:ext cx="110642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31927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Heuristic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331927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Leads its strongest trump, wins tricks as cheaply as possible, discards low.</a:t>
            </a:r>
            <a:endParaRPr lang="en-US" sz="1300" dirty="0"/>
          </a:p>
        </p:txBody>
      </p:sp>
      <p:sp>
        <p:nvSpPr>
          <p:cNvPr id="14" name="baseline track Heuristic"/>
          <p:cNvSpPr/>
          <p:nvPr/>
        </p:nvSpPr>
        <p:spPr>
          <a:xfrm>
            <a:off x="8229600" y="3511296"/>
            <a:ext cx="2377440" cy="182880"/>
          </a:xfrm>
          <a:prstGeom prst="rect">
            <a:avLst/>
          </a:prstGeom>
          <a:solidFill>
            <a:schemeClr val="bg1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15" name="baseline bar Heuristic"/>
          <p:cNvSpPr/>
          <p:nvPr/>
        </p:nvSpPr>
        <p:spPr>
          <a:xfrm>
            <a:off x="8229600" y="3511296"/>
            <a:ext cx="1159002" cy="18288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744200" y="336499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+3.9</a:t>
            </a:r>
            <a:endParaRPr lang="en-US" sz="1600" dirty="0"/>
          </a:p>
        </p:txBody>
      </p:sp>
      <p:sp>
        <p:nvSpPr>
          <p:cNvPr id="17" name="baseline VoidExploit"/>
          <p:cNvSpPr/>
          <p:nvPr/>
        </p:nvSpPr>
        <p:spPr>
          <a:xfrm>
            <a:off x="548640" y="4169664"/>
            <a:ext cx="110642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30682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VoidExploit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4306824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Tracks suits the opponent can't follow and leads them to drain its trumps.</a:t>
            </a:r>
            <a:endParaRPr lang="en-US" sz="1300" dirty="0"/>
          </a:p>
        </p:txBody>
      </p:sp>
      <p:sp>
        <p:nvSpPr>
          <p:cNvPr id="20" name="baseline track VoidExploit"/>
          <p:cNvSpPr/>
          <p:nvPr/>
        </p:nvSpPr>
        <p:spPr>
          <a:xfrm>
            <a:off x="8229600" y="4498848"/>
            <a:ext cx="2377440" cy="182880"/>
          </a:xfrm>
          <a:prstGeom prst="rect">
            <a:avLst/>
          </a:prstGeom>
          <a:solidFill>
            <a:schemeClr val="bg1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21" name="baseline bar VoidExploit"/>
          <p:cNvSpPr/>
          <p:nvPr/>
        </p:nvSpPr>
        <p:spPr>
          <a:xfrm>
            <a:off x="8229600" y="4498848"/>
            <a:ext cx="2169414" cy="18288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744200" y="435254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+7.3</a:t>
            </a:r>
            <a:endParaRPr lang="en-US" sz="1600" dirty="0"/>
          </a:p>
        </p:txBody>
      </p:sp>
      <p:sp>
        <p:nvSpPr>
          <p:cNvPr id="23" name="baseline TrumpCount"/>
          <p:cNvSpPr/>
          <p:nvPr/>
        </p:nvSpPr>
        <p:spPr>
          <a:xfrm>
            <a:off x="548640" y="5157216"/>
            <a:ext cx="110642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529437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TrumpCount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5294376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Counts remaining trumps and leads trump only when holding the majority.</a:t>
            </a:r>
            <a:endParaRPr lang="en-US" sz="1300" dirty="0"/>
          </a:p>
        </p:txBody>
      </p:sp>
      <p:sp>
        <p:nvSpPr>
          <p:cNvPr id="26" name="baseline track TrumpCount"/>
          <p:cNvSpPr/>
          <p:nvPr/>
        </p:nvSpPr>
        <p:spPr>
          <a:xfrm>
            <a:off x="8229600" y="5486400"/>
            <a:ext cx="2377440" cy="182880"/>
          </a:xfrm>
          <a:prstGeom prst="rect">
            <a:avLst/>
          </a:prstGeom>
          <a:solidFill>
            <a:schemeClr val="bg1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27" name="baseline bar TrumpCount"/>
          <p:cNvSpPr/>
          <p:nvPr/>
        </p:nvSpPr>
        <p:spPr>
          <a:xfrm>
            <a:off x="8229600" y="5486400"/>
            <a:ext cx="2347722" cy="1828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44200" y="534009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+7.9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AGENT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One shared network, trained by PPO self-play</a:t>
            </a:r>
            <a:endParaRPr lang="en-US" sz="3400" dirty="0"/>
          </a:p>
        </p:txBody>
      </p:sp>
      <p:sp>
        <p:nvSpPr>
          <p:cNvPr id="4" name="network card"/>
          <p:cNvSpPr/>
          <p:nvPr/>
        </p:nvSpPr>
        <p:spPr>
          <a:xfrm>
            <a:off x="548640" y="1783080"/>
            <a:ext cx="512064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ACTOR-CRITIC NETWORK</a:t>
            </a:r>
            <a:endParaRPr lang="en-US" sz="1100" dirty="0"/>
          </a:p>
        </p:txBody>
      </p:sp>
      <p:sp>
        <p:nvSpPr>
          <p:cNvPr id="6" name="layer 0"/>
          <p:cNvSpPr/>
          <p:nvPr/>
        </p:nvSpPr>
        <p:spPr>
          <a:xfrm>
            <a:off x="1280160" y="2468880"/>
            <a:ext cx="36576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63040" y="2468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Observation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598</a:t>
            </a:r>
            <a:endParaRPr lang="en-US" sz="1400" dirty="0"/>
          </a:p>
        </p:txBody>
      </p:sp>
      <p:sp>
        <p:nvSpPr>
          <p:cNvPr id="9" name="layer 1"/>
          <p:cNvSpPr/>
          <p:nvPr/>
        </p:nvSpPr>
        <p:spPr>
          <a:xfrm>
            <a:off x="1280160" y="3246120"/>
            <a:ext cx="36576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6304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Dense + ReLU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32461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1400" dirty="0"/>
          </a:p>
        </p:txBody>
      </p:sp>
      <p:sp>
        <p:nvSpPr>
          <p:cNvPr id="12" name="layer 2"/>
          <p:cNvSpPr/>
          <p:nvPr/>
        </p:nvSpPr>
        <p:spPr>
          <a:xfrm>
            <a:off x="1280160" y="4023360"/>
            <a:ext cx="36576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63040" y="4023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Dense + ReLU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40233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1400" dirty="0"/>
          </a:p>
        </p:txBody>
      </p:sp>
      <p:sp>
        <p:nvSpPr>
          <p:cNvPr id="15" name="head Policy"/>
          <p:cNvSpPr/>
          <p:nvPr/>
        </p:nvSpPr>
        <p:spPr>
          <a:xfrm>
            <a:off x="1280160" y="4846320"/>
            <a:ext cx="173736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80160" y="487375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Policy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5193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logits</a:t>
            </a:r>
            <a:endParaRPr lang="en-US" sz="1100" dirty="0"/>
          </a:p>
        </p:txBody>
      </p:sp>
      <p:sp>
        <p:nvSpPr>
          <p:cNvPr id="18" name="head Value"/>
          <p:cNvSpPr/>
          <p:nvPr/>
        </p:nvSpPr>
        <p:spPr>
          <a:xfrm>
            <a:off x="3200400" y="4846320"/>
            <a:ext cx="173736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00400" y="487375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Value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200400" y="5193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scalar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669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Same weights play both seats — observations are always seen from the active player.</a:t>
            </a:r>
            <a:endParaRPr lang="en-US" sz="1200" dirty="0"/>
          </a:p>
        </p:txBody>
      </p:sp>
      <p:sp>
        <p:nvSpPr>
          <p:cNvPr id="22" name="ppo card"/>
          <p:cNvSpPr/>
          <p:nvPr/>
        </p:nvSpPr>
        <p:spPr>
          <a:xfrm>
            <a:off x="5943600" y="1783080"/>
            <a:ext cx="566928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 LOOP</a:t>
            </a:r>
            <a:endParaRPr lang="en-US" sz="1100" dirty="0"/>
          </a:p>
        </p:txBody>
      </p:sp>
      <p:sp>
        <p:nvSpPr>
          <p:cNvPr id="24" name="loop step 0"/>
          <p:cNvSpPr/>
          <p:nvPr/>
        </p:nvSpPr>
        <p:spPr>
          <a:xfrm>
            <a:off x="6217920" y="2468880"/>
            <a:ext cx="502920" cy="5029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2423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Rollout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2743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128 self-play rounds, alternating who leads</a:t>
            </a:r>
            <a:endParaRPr lang="en-US" sz="1300" dirty="0"/>
          </a:p>
        </p:txBody>
      </p:sp>
      <p:sp>
        <p:nvSpPr>
          <p:cNvPr id="28" name="loop step 1"/>
          <p:cNvSpPr/>
          <p:nvPr/>
        </p:nvSpPr>
        <p:spPr>
          <a:xfrm>
            <a:off x="6217920" y="3273552"/>
            <a:ext cx="502920" cy="5029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0" y="3273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949440" y="32278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Credit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35478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Trick reward sent back to the move that earned it</a:t>
            </a:r>
            <a:endParaRPr lang="en-US" sz="1300" dirty="0"/>
          </a:p>
        </p:txBody>
      </p:sp>
      <p:sp>
        <p:nvSpPr>
          <p:cNvPr id="32" name="loop step 2"/>
          <p:cNvSpPr/>
          <p:nvPr/>
        </p:nvSpPr>
        <p:spPr>
          <a:xfrm>
            <a:off x="6217920" y="4078224"/>
            <a:ext cx="502920" cy="5029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17920" y="4078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949440" y="403250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GAE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949440" y="4352544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Advantages computed per seat (γ = λ = 1)</a:t>
            </a:r>
            <a:endParaRPr lang="en-US" sz="1300" dirty="0"/>
          </a:p>
        </p:txBody>
      </p:sp>
      <p:sp>
        <p:nvSpPr>
          <p:cNvPr id="36" name="loop step 3"/>
          <p:cNvSpPr/>
          <p:nvPr/>
        </p:nvSpPr>
        <p:spPr>
          <a:xfrm>
            <a:off x="6217920" y="4882896"/>
            <a:ext cx="502920" cy="5029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17920" y="48828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949440" y="483717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PPO update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6949440" y="5157216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Clip ε 0.2 · 4 epochs · batch 256 · Adam 3e-4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217920" y="56692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 → evaluation every 50 000 games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EVALUATION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Measuring skill in a game of luck</a:t>
            </a:r>
            <a:endParaRPr lang="en-US" sz="3400" dirty="0"/>
          </a:p>
        </p:txBody>
      </p:sp>
      <p:sp>
        <p:nvSpPr>
          <p:cNvPr id="4" name="luck stat card"/>
          <p:cNvSpPr/>
          <p:nvPr/>
        </p:nvSpPr>
        <p:spPr>
          <a:xfrm>
            <a:off x="548640" y="1783080"/>
            <a:ext cx="3566160" cy="434340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±7 pp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461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Error bar of a plain 200-game evaluation.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3434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deal decides most rounds, so this noise was larger than the progress we wanted to detect.</a:t>
            </a:r>
            <a:endParaRPr lang="en-US" sz="1300" dirty="0"/>
          </a:p>
        </p:txBody>
      </p:sp>
      <p:sp>
        <p:nvSpPr>
          <p:cNvPr id="8" name="duplicate card"/>
          <p:cNvSpPr/>
          <p:nvPr/>
        </p:nvSpPr>
        <p:spPr>
          <a:xfrm>
            <a:off x="4389120" y="1783080"/>
            <a:ext cx="722376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DUPLICATE DEALS — AS IN BRIDGE</a:t>
            </a:r>
            <a:endParaRPr lang="en-US" sz="1100" dirty="0"/>
          </a:p>
        </p:txBody>
      </p:sp>
      <p:sp>
        <p:nvSpPr>
          <p:cNvPr id="10" name="deal box"/>
          <p:cNvSpPr/>
          <p:nvPr/>
        </p:nvSpPr>
        <p:spPr>
          <a:xfrm>
            <a:off x="4663440" y="2697480"/>
            <a:ext cx="1554480" cy="118872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28803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 deal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2461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A, 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trump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26974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dup game 0"/>
          <p:cNvSpPr/>
          <p:nvPr/>
        </p:nvSpPr>
        <p:spPr>
          <a:xfrm>
            <a:off x="6766560" y="2697480"/>
            <a:ext cx="265176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2697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Game 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6974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Agent: A   Opp: B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3337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→</a:t>
            </a:r>
            <a:endParaRPr lang="en-US" sz="1800" dirty="0"/>
          </a:p>
        </p:txBody>
      </p:sp>
      <p:sp>
        <p:nvSpPr>
          <p:cNvPr id="18" name="dup game 1"/>
          <p:cNvSpPr/>
          <p:nvPr/>
        </p:nvSpPr>
        <p:spPr>
          <a:xfrm>
            <a:off x="6766560" y="3337560"/>
            <a:ext cx="265176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3375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Game 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33375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Agent: B   Opp: A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0" y="269748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Same cards, seats swapped: the luck of the deal cancels out.</a:t>
            </a:r>
            <a:endParaRPr lang="en-US" sz="1300" dirty="0"/>
          </a:p>
        </p:txBody>
      </p:sp>
      <p:sp>
        <p:nvSpPr>
          <p:cNvPr id="22" name="precision card"/>
          <p:cNvSpPr/>
          <p:nvPr/>
        </p:nvSpPr>
        <p:spPr>
          <a:xfrm>
            <a:off x="4389120" y="4526280"/>
            <a:ext cx="72237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6344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PRECISION, SAME 4 000 GAMES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507492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Heuristic vs Random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955280" y="50749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±1.44  →  </a:t>
            </a:r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±0.74 pts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663440" y="540410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TrumpCount vs Heuristic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955280" y="540410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±1.22  →  </a:t>
            </a:r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±0.52 pts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663440" y="57332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VoidExploit vs Heuristic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955280" y="57332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±1.20  →  </a:t>
            </a:r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±0.41 pts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966960" y="50749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4–9× fewer games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for the same precision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ABLATIONS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What unlocked learning</a:t>
            </a:r>
            <a:endParaRPr lang="en-US" sz="3400" dirty="0"/>
          </a:p>
        </p:txBody>
      </p:sp>
      <p:sp>
        <p:nvSpPr>
          <p:cNvPr id="4" name="fixes card"/>
          <p:cNvSpPr/>
          <p:nvPr/>
        </p:nvSpPr>
        <p:spPr>
          <a:xfrm>
            <a:off x="548640" y="1783080"/>
            <a:ext cx="457200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CHANGES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423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GAE per seat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80720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Returns mixed both players' points — the signal "who wins the points" vanished. Bug fixed.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11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3611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 ±1 win bonus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99592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Winning a round mostly depends on the deal: the bonus was noise.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8006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4800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Learning rate 3e-4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518464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1e-3 made updates too abrupt (KL ≈ 0.04).</a:t>
            </a:r>
            <a:endParaRPr lang="en-US" sz="1300" dirty="0"/>
          </a:p>
        </p:txBody>
      </p:sp>
      <p:sp>
        <p:nvSpPr>
          <p:cNvPr id="15" name="ablation chart card"/>
          <p:cNvSpPr/>
          <p:nvPr/>
        </p:nvSpPr>
        <p:spPr>
          <a:xfrm>
            <a:off x="5394960" y="1783080"/>
            <a:ext cx="621792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 MARGIN VS TRUMPCOUNT · 200K GAMES</a:t>
            </a:r>
            <a:endParaRPr lang="en-US" sz="1100" dirty="0"/>
          </a:p>
        </p:txBody>
      </p:sp>
      <p:graphicFrame>
        <p:nvGraphicFramePr>
          <p:cNvPr id="17" name="ablation chart" descr=""/>
          <p:cNvGraphicFramePr/>
          <p:nvPr/>
        </p:nvGraphicFramePr>
        <p:xfrm>
          <a:off x="5577840" y="2331720"/>
          <a:ext cx="58521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RESULTS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The agent wins 83% of full games against Random</a:t>
            </a:r>
            <a:endParaRPr lang="en-US" sz="3400" dirty="0"/>
          </a:p>
        </p:txBody>
      </p:sp>
      <p:sp>
        <p:nvSpPr>
          <p:cNvPr id="4" name="games won vs Random"/>
          <p:cNvSpPr/>
          <p:nvPr/>
        </p:nvSpPr>
        <p:spPr>
          <a:xfrm>
            <a:off x="548640" y="1783080"/>
            <a:ext cx="260604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83%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249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of games vs Random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723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63% of rounds</a:t>
            </a:r>
            <a:endParaRPr lang="en-US" sz="1000" dirty="0"/>
          </a:p>
        </p:txBody>
      </p:sp>
      <p:sp>
        <p:nvSpPr>
          <p:cNvPr id="8" name="games won vs Heuristic"/>
          <p:cNvSpPr/>
          <p:nvPr/>
        </p:nvSpPr>
        <p:spPr>
          <a:xfrm>
            <a:off x="3360420" y="1783080"/>
            <a:ext cx="260604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89020" y="1920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589020" y="27249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of games vs Heuristic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89020" y="30723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59% of rounds</a:t>
            </a:r>
            <a:endParaRPr lang="en-US" sz="1000" dirty="0"/>
          </a:p>
        </p:txBody>
      </p:sp>
      <p:sp>
        <p:nvSpPr>
          <p:cNvPr id="12" name="games won vs VoidExploit"/>
          <p:cNvSpPr/>
          <p:nvPr/>
        </p:nvSpPr>
        <p:spPr>
          <a:xfrm>
            <a:off x="6172200" y="1783080"/>
            <a:ext cx="260604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1920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64%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7249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of games vs VoidExploit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30723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56% of rounds</a:t>
            </a:r>
            <a:endParaRPr lang="en-US" sz="1000" dirty="0"/>
          </a:p>
        </p:txBody>
      </p:sp>
      <p:sp>
        <p:nvSpPr>
          <p:cNvPr id="16" name="games won vs TrumpCount"/>
          <p:cNvSpPr/>
          <p:nvPr/>
        </p:nvSpPr>
        <p:spPr>
          <a:xfrm>
            <a:off x="8983980" y="1783080"/>
            <a:ext cx="260604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12580" y="1920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62%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9212580" y="27249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of games vs TrumpCount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212580" y="30723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56% of rounds</a:t>
            </a:r>
            <a:endParaRPr lang="en-US" sz="1000" dirty="0"/>
          </a:p>
        </p:txBody>
      </p:sp>
      <p:sp>
        <p:nvSpPr>
          <p:cNvPr id="20" name="games vs random chart card"/>
          <p:cNvSpPr/>
          <p:nvPr/>
        </p:nvSpPr>
        <p:spPr>
          <a:xfrm>
            <a:off x="548640" y="3703320"/>
            <a:ext cx="694944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3886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GAMES WON AGAINST RANDOM · FIRST TO 501</a:t>
            </a:r>
            <a:endParaRPr lang="en-US" sz="1100" dirty="0"/>
          </a:p>
        </p:txBody>
      </p:sp>
      <p:graphicFrame>
        <p:nvGraphicFramePr>
          <p:cNvPr id="22" name="games won vs random chart" descr=""/>
          <p:cNvGraphicFramePr/>
          <p:nvPr/>
        </p:nvGraphicFramePr>
        <p:xfrm>
          <a:off x="685800" y="4160520"/>
          <a:ext cx="667512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games takeaway card"/>
          <p:cNvSpPr/>
          <p:nvPr/>
        </p:nvSpPr>
        <p:spPr>
          <a:xfrm>
            <a:off x="7772400" y="3703320"/>
            <a:ext cx="384048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046720" y="3886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MEANS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425196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Beats all four baselines over full games,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including our best heuristic (62%).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Wins more often against Random than TrumpCount does (83% vs 72%).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046720" y="56235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sees the opponent's hand · 1 000 duplicate games per match-up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WHY 63%?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83% of games, but only 63% of rounds — why?</a:t>
            </a:r>
            <a:endParaRPr lang="en-US" sz="3400" dirty="0"/>
          </a:p>
        </p:txBody>
      </p:sp>
      <p:sp>
        <p:nvSpPr>
          <p:cNvPr id="4" name="reasoning card"/>
          <p:cNvSpPr/>
          <p:nvPr/>
        </p:nvSpPr>
        <p:spPr>
          <a:xfrm>
            <a:off x="548640" y="1783080"/>
            <a:ext cx="502920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REASONING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9572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3957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It felt much stronger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72491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Playing against it ourselves, we lost most games: 63% of rounds won vs Random looked far too low.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31012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3101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We built a cheater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3931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It sees the opponent's hand and plays optimally — yet wins only 76% of rounds vs Random.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22452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42245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Luck dominates one round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55371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Even perfect information cannot rescue a bad hand.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13892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51389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Evaluate like real Belote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46811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Full games, first to 501 points (~10 rounds): luck averages out.</a:t>
            </a:r>
            <a:endParaRPr lang="en-US" sz="1200" dirty="0"/>
          </a:p>
        </p:txBody>
      </p:sp>
      <p:sp>
        <p:nvSpPr>
          <p:cNvPr id="18" name="full games table card"/>
          <p:cNvSpPr/>
          <p:nvPr/>
        </p:nvSpPr>
        <p:spPr>
          <a:xfrm>
            <a:off x="5852160" y="1783080"/>
            <a:ext cx="576072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0" y="2011680"/>
          <a:ext cx="53035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8872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C99A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MATCH-UP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C99A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ROUNDS WON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DE2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GAMES WON (501)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Random vs Random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50%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51%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Heuristic vs Random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52%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62%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TrumpCount vs Random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72%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BF0"/>
                          </a:solidFill>
                        </a:rPr>
                        <a:t>PPO vs Random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E2A6"/>
                          </a:solidFill>
                        </a:rPr>
                        <a:t>83%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BF0"/>
                          </a:solidFill>
                        </a:rPr>
                        <a:t>PPO vs Heuristic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E2A6"/>
                          </a:solidFill>
                        </a:rPr>
                        <a:t>72%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BF0"/>
                          </a:solidFill>
                        </a:rPr>
                        <a:t>PPO vs VoidExploit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E2A6"/>
                          </a:solidFill>
                        </a:rPr>
                        <a:t>64%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BF0"/>
                          </a:solidFill>
                        </a:rPr>
                        <a:t>PPO vs TrumpCount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E2A6"/>
                          </a:solidFill>
                        </a:rPr>
                        <a:t>62%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8C99A8"/>
                          </a:solidFill>
                        </a:rPr>
                        <a:t>Cheater* vs Random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i="1" dirty="0">
                          <a:solidFill>
                            <a:srgbClr val="8C99A8"/>
                          </a:solidFill>
                        </a:rPr>
                        <a:t>76%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i="1" dirty="0">
                          <a:solidFill>
                            <a:srgbClr val="8C99A8"/>
                          </a:solidFill>
                        </a:rPr>
                        <a:t>99%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6080760" y="55321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sees the opponent's hand and plays optimally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Duplicate games · 1 000 per match-up (400 for the cheater) · ±2 pp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LEARNING CURVE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Learning curve: fast gains, then a plateau</a:t>
            </a:r>
            <a:endParaRPr lang="en-US" sz="3400" dirty="0"/>
          </a:p>
        </p:txBody>
      </p:sp>
      <p:pic>
        <p:nvPicPr>
          <p:cNvPr id="4" name="point margin learning curve" descr="fig_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754112" cy="4343400"/>
          </a:xfrm>
          <a:prstGeom prst="rect">
            <a:avLst/>
          </a:prstGeom>
        </p:spPr>
      </p:pic>
      <p:sp>
        <p:nvSpPr>
          <p:cNvPr id="5" name="final TrumpCount"/>
          <p:cNvSpPr/>
          <p:nvPr/>
        </p:nvSpPr>
        <p:spPr>
          <a:xfrm>
            <a:off x="8595360" y="1783080"/>
            <a:ext cx="301752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823960" y="18928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+5.0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0195560" y="19385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vs TrumpCount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823960" y="2423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62% of full games</a:t>
            </a:r>
            <a:endParaRPr lang="en-US" sz="1000" dirty="0"/>
          </a:p>
        </p:txBody>
      </p:sp>
      <p:sp>
        <p:nvSpPr>
          <p:cNvPr id="9" name="final VoidExploit"/>
          <p:cNvSpPr/>
          <p:nvPr/>
        </p:nvSpPr>
        <p:spPr>
          <a:xfrm>
            <a:off x="8595360" y="2898648"/>
            <a:ext cx="301752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23960" y="300837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0195560" y="30540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vs VoidExploit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823960" y="35387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64% of full games</a:t>
            </a:r>
            <a:endParaRPr lang="en-US" sz="1000" dirty="0"/>
          </a:p>
        </p:txBody>
      </p:sp>
      <p:sp>
        <p:nvSpPr>
          <p:cNvPr id="13" name="final Heuristic"/>
          <p:cNvSpPr/>
          <p:nvPr/>
        </p:nvSpPr>
        <p:spPr>
          <a:xfrm>
            <a:off x="8595360" y="4014216"/>
            <a:ext cx="301752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823960" y="41239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+8.3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195560" y="41696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vs Heuristic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823960" y="46542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72% of full games</a:t>
            </a:r>
            <a:endParaRPr lang="en-US" sz="1000" dirty="0"/>
          </a:p>
        </p:txBody>
      </p:sp>
      <p:sp>
        <p:nvSpPr>
          <p:cNvPr id="17" name="final Random"/>
          <p:cNvSpPr/>
          <p:nvPr/>
        </p:nvSpPr>
        <p:spPr>
          <a:xfrm>
            <a:off x="8595360" y="5129784"/>
            <a:ext cx="301752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823960" y="523951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+12.5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0195560" y="52852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vs Random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823960" y="57698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83% of full games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REPRODUCIBILITY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Three independent runs, the same result</a:t>
            </a:r>
            <a:endParaRPr lang="en-US" sz="3400" dirty="0"/>
          </a:p>
        </p:txBody>
      </p:sp>
      <p:pic>
        <p:nvPicPr>
          <p:cNvPr id="4" name="three seeds learning curves" descr="fig_see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754112" cy="4343400"/>
          </a:xfrm>
          <a:prstGeom prst="rect">
            <a:avLst/>
          </a:prstGeom>
        </p:spPr>
      </p:pic>
      <p:sp>
        <p:nvSpPr>
          <p:cNvPr id="5" name="seeds table card"/>
          <p:cNvSpPr/>
          <p:nvPr/>
        </p:nvSpPr>
        <p:spPr>
          <a:xfrm>
            <a:off x="8595360" y="1783080"/>
            <a:ext cx="301752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823960" y="1965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VS TRUMPCOUNT AT 2M GAMES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823960" y="23774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Run 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692640" y="23774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+4.35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823960" y="2834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Run 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9692640" y="2834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+4.94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823960" y="3291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Run 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692640" y="3291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+5.06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823960" y="3840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points per round · ±0.4 pts each</a:t>
            </a:r>
            <a:endParaRPr lang="en-US" sz="1000" dirty="0"/>
          </a:p>
        </p:txBody>
      </p:sp>
      <p:sp>
        <p:nvSpPr>
          <p:cNvPr id="14" name="seeds mean card"/>
          <p:cNvSpPr/>
          <p:nvPr/>
        </p:nvSpPr>
        <p:spPr>
          <a:xfrm>
            <a:off x="8595360" y="4709160"/>
            <a:ext cx="301752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823960" y="484632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+4.8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±0.4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823960" y="54406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mean across seeds — the spread is no larger than measurement noise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SELF-PLAY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Real progress in self-play — until ~2M games</a:t>
            </a:r>
            <a:endParaRPr lang="en-US" sz="3400" dirty="0"/>
          </a:p>
        </p:txBody>
      </p:sp>
      <p:sp>
        <p:nvSpPr>
          <p:cNvPr id="4" name="checkpoint chart card"/>
          <p:cNvSpPr/>
          <p:nvPr/>
        </p:nvSpPr>
        <p:spPr>
          <a:xfrm>
            <a:off x="548640" y="1783080"/>
            <a:ext cx="694944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AGENT VS ITS OWN EARLIER VERSIONS</a:t>
            </a:r>
            <a:endParaRPr lang="en-US" sz="1100" dirty="0"/>
          </a:p>
        </p:txBody>
      </p:sp>
      <p:graphicFrame>
        <p:nvGraphicFramePr>
          <p:cNvPr id="6" name="checkpoint chart" descr=""/>
          <p:cNvGraphicFramePr/>
          <p:nvPr/>
        </p:nvGraphicFramePr>
        <p:xfrm>
          <a:off x="685800" y="2331720"/>
          <a:ext cx="667512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22960" y="58064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Opponent checkpoint (training games) · 1 000 duplicate deals each · ±0.5–0.9 pts</a:t>
            </a:r>
            <a:endParaRPr lang="en-US" sz="1100" dirty="0"/>
          </a:p>
        </p:txBody>
      </p:sp>
      <p:sp>
        <p:nvSpPr>
          <p:cNvPr id="8" name="plateau takeaway card"/>
          <p:cNvSpPr/>
          <p:nvPr/>
        </p:nvSpPr>
        <p:spPr>
          <a:xfrm>
            <a:off x="7772400" y="1783080"/>
            <a:ext cx="3840480" cy="434340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4672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TAKEAWAYS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2423160"/>
            <a:ext cx="3383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It improves against itself,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not only against our heuristics.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Gains shrink, then stop near 1.5–2M games: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last million added nothing.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Going further needs a better agent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(memory, bigger net, league self-play), not longer training.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BEHAVIOUR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What the agent learned on its own</a:t>
            </a:r>
            <a:endParaRPr lang="en-US" sz="3400" dirty="0"/>
          </a:p>
        </p:txBody>
      </p:sp>
      <p:sp>
        <p:nvSpPr>
          <p:cNvPr id="4" name="good deal card"/>
          <p:cNvSpPr/>
          <p:nvPr/>
        </p:nvSpPr>
        <p:spPr>
          <a:xfrm>
            <a:off x="548640" y="1783080"/>
            <a:ext cx="694944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HAND, TWO PLAYERS · TRUMP ♦</a:t>
            </a:r>
            <a:endParaRPr lang="en-US" sz="1100" dirty="0"/>
          </a:p>
        </p:txBody>
      </p:sp>
      <p:sp>
        <p:nvSpPr>
          <p:cNvPr id="6" name="card 8D"/>
          <p:cNvSpPr/>
          <p:nvPr/>
        </p:nvSpPr>
        <p:spPr>
          <a:xfrm>
            <a:off x="82296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♦</a:t>
            </a:r>
            <a:endParaRPr lang="en-US" sz="1500" dirty="0"/>
          </a:p>
        </p:txBody>
      </p:sp>
      <p:sp>
        <p:nvSpPr>
          <p:cNvPr id="8" name="card QD"/>
          <p:cNvSpPr/>
          <p:nvPr/>
        </p:nvSpPr>
        <p:spPr>
          <a:xfrm>
            <a:off x="146304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28575">
            <a:solidFill>
              <a:srgbClr val="2DE2A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6304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♦</a:t>
            </a:r>
            <a:endParaRPr lang="en-US" sz="1500" dirty="0"/>
          </a:p>
        </p:txBody>
      </p:sp>
      <p:sp>
        <p:nvSpPr>
          <p:cNvPr id="10" name="card 10D"/>
          <p:cNvSpPr/>
          <p:nvPr/>
        </p:nvSpPr>
        <p:spPr>
          <a:xfrm>
            <a:off x="210312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28575">
            <a:solidFill>
              <a:srgbClr val="2DE2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0312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♦</a:t>
            </a:r>
            <a:endParaRPr lang="en-US" sz="1500" dirty="0"/>
          </a:p>
        </p:txBody>
      </p:sp>
      <p:sp>
        <p:nvSpPr>
          <p:cNvPr id="12" name="card AD"/>
          <p:cNvSpPr/>
          <p:nvPr/>
        </p:nvSpPr>
        <p:spPr>
          <a:xfrm>
            <a:off x="274320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28575">
            <a:solidFill>
              <a:srgbClr val="2DE2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4320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♦</a:t>
            </a:r>
            <a:endParaRPr lang="en-US" sz="1500" dirty="0"/>
          </a:p>
        </p:txBody>
      </p:sp>
      <p:sp>
        <p:nvSpPr>
          <p:cNvPr id="14" name="card 7S"/>
          <p:cNvSpPr/>
          <p:nvPr/>
        </p:nvSpPr>
        <p:spPr>
          <a:xfrm>
            <a:off x="338328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38328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♠</a:t>
            </a:r>
            <a:endParaRPr lang="en-US" sz="1500" dirty="0"/>
          </a:p>
        </p:txBody>
      </p:sp>
      <p:sp>
        <p:nvSpPr>
          <p:cNvPr id="16" name="card 10H"/>
          <p:cNvSpPr/>
          <p:nvPr/>
        </p:nvSpPr>
        <p:spPr>
          <a:xfrm>
            <a:off x="402336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2336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1500" dirty="0"/>
          </a:p>
        </p:txBody>
      </p:sp>
      <p:sp>
        <p:nvSpPr>
          <p:cNvPr id="18" name="card KC"/>
          <p:cNvSpPr/>
          <p:nvPr/>
        </p:nvSpPr>
        <p:spPr>
          <a:xfrm>
            <a:off x="466344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6344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♣</a:t>
            </a:r>
            <a:endParaRPr lang="en-US" sz="1500" dirty="0"/>
          </a:p>
        </p:txBody>
      </p:sp>
      <p:sp>
        <p:nvSpPr>
          <p:cNvPr id="20" name="card 10C"/>
          <p:cNvSpPr/>
          <p:nvPr/>
        </p:nvSpPr>
        <p:spPr>
          <a:xfrm>
            <a:off x="530352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♣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32461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Big trumps — but not the Jack or the Nine, the opponent holds both.</a:t>
            </a:r>
            <a:endParaRPr lang="en-US" sz="1300" dirty="0"/>
          </a:p>
        </p:txBody>
      </p:sp>
      <p:sp>
        <p:nvSpPr>
          <p:cNvPr id="23" name="deal play 0"/>
          <p:cNvSpPr/>
          <p:nvPr/>
        </p:nvSpPr>
        <p:spPr>
          <a:xfrm>
            <a:off x="822960" y="3749040"/>
            <a:ext cx="6400800" cy="9144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05840" y="38404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TrumpCount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2468880" y="38404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Leads the Ace of trump at once → captured by the Jack (−31 pts).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38404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pts</a:t>
            </a:r>
            <a:endParaRPr lang="en-US" sz="2400" dirty="0"/>
          </a:p>
        </p:txBody>
      </p:sp>
      <p:sp>
        <p:nvSpPr>
          <p:cNvPr id="27" name="deal play 1"/>
          <p:cNvSpPr/>
          <p:nvPr/>
        </p:nvSpPr>
        <p:spPr>
          <a:xfrm>
            <a:off x="822960" y="4846320"/>
            <a:ext cx="6400800" cy="9144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05840" y="49377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PPO agent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468880" y="49377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Ducks under the Jack with the 8, flushes out the Nine with the Queen, then cashes 10 + Ace as masters.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035040" y="49377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58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pts</a:t>
            </a:r>
            <a:endParaRPr lang="en-US" sz="2400" dirty="0"/>
          </a:p>
        </p:txBody>
      </p:sp>
      <p:sp>
        <p:nvSpPr>
          <p:cNvPr id="31" name="learned card"/>
          <p:cNvSpPr/>
          <p:nvPr/>
        </p:nvSpPr>
        <p:spPr>
          <a:xfrm>
            <a:off x="7772400" y="1783080"/>
            <a:ext cx="384048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 ALONE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046720" y="23774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Wait for the opponent's top trumps to fall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Profitable ruffs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Cash master cards at the end</a:t>
            </a:r>
            <a:endParaRPr lang="en-US" sz="1500" dirty="0"/>
          </a:p>
        </p:txBody>
      </p:sp>
      <p:sp>
        <p:nvSpPr>
          <p:cNvPr id="34" name="calculated risk card"/>
          <p:cNvSpPr/>
          <p:nvPr/>
        </p:nvSpPr>
        <p:spPr>
          <a:xfrm>
            <a:off x="7772400" y="4069080"/>
            <a:ext cx="384048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0" y="4297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CALCULATED RISK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8046720" y="46634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Leads a Ten with the Ace unseen in 6.6% of its leads.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16 cards are never dealt: the opponent holds that Ace only 15% of the 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NEXT STEPS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Where we stand — and what comes next</a:t>
            </a:r>
            <a:endParaRPr lang="en-US" sz="3400" dirty="0"/>
          </a:p>
        </p:txBody>
      </p:sp>
      <p:sp>
        <p:nvSpPr>
          <p:cNvPr id="4" name="done card"/>
          <p:cNvSpPr/>
          <p:nvPr/>
        </p:nvSpPr>
        <p:spPr>
          <a:xfrm>
            <a:off x="548640" y="1783080"/>
            <a:ext cx="539496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Tested Belote environment, 4 baselines, PPO from scratch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Duplicate-deal evaluation: 2–3× tighter error bars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Fixed 2 silent bugs (perspective leak, GAE across seats)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Ablations: removing the win bonus is the key change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Wins 83% of full games vs Random, 62% vs our best heuristic — reproduced in 3 independent runs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Playable web demo: humans vs the trained agent</a:t>
            </a:r>
            <a:endParaRPr lang="en-US" sz="1500" dirty="0"/>
          </a:p>
        </p:txBody>
      </p:sp>
      <p:sp>
        <p:nvSpPr>
          <p:cNvPr id="7" name="next card"/>
          <p:cNvSpPr/>
          <p:nvPr/>
        </p:nvSpPr>
        <p:spPr>
          <a:xfrm>
            <a:off x="6217920" y="1783080"/>
            <a:ext cx="539496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423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086600" y="242316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League self-play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08660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Train against a pool of past versions to pass the plateau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329184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Bigger network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36393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More capacity than 2 × 128 units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160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416052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Trump choice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086600" y="45079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Let the agent bid the trump suit (Phase 4)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086600" y="502920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Final report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53766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Ablations, behaviour statistics, write-up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874520"/>
            <a:ext cx="8229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Thank you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429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Noa Curiel  &amp;  Yoni Benabou</a:t>
            </a:r>
            <a:endParaRPr lang="en-US" sz="1800" dirty="0"/>
          </a:p>
        </p:txBody>
      </p:sp>
      <p:sp>
        <p:nvSpPr>
          <p:cNvPr id="5" name="end suit tile 0"/>
          <p:cNvSpPr/>
          <p:nvPr/>
        </p:nvSpPr>
        <p:spPr>
          <a:xfrm>
            <a:off x="9372600" y="2011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72600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♠</a:t>
            </a:r>
            <a:endParaRPr lang="en-US" sz="3400" dirty="0"/>
          </a:p>
        </p:txBody>
      </p:sp>
      <p:sp>
        <p:nvSpPr>
          <p:cNvPr id="7" name="end suit tile 1"/>
          <p:cNvSpPr/>
          <p:nvPr/>
        </p:nvSpPr>
        <p:spPr>
          <a:xfrm>
            <a:off x="10515600" y="2011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0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2"/>
                </a:solidFill>
              </a:rPr>
              <a:t>♥</a:t>
            </a:r>
            <a:endParaRPr lang="en-US" sz="3400" dirty="0"/>
          </a:p>
        </p:txBody>
      </p:sp>
      <p:sp>
        <p:nvSpPr>
          <p:cNvPr id="9" name="end suit tile 2"/>
          <p:cNvSpPr/>
          <p:nvPr/>
        </p:nvSpPr>
        <p:spPr>
          <a:xfrm>
            <a:off x="9372600" y="3154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72600" y="3154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2"/>
                </a:solidFill>
              </a:rPr>
              <a:t>♦</a:t>
            </a:r>
            <a:endParaRPr lang="en-US" sz="3400" dirty="0"/>
          </a:p>
        </p:txBody>
      </p:sp>
      <p:sp>
        <p:nvSpPr>
          <p:cNvPr id="11" name="end suit tile 3"/>
          <p:cNvSpPr/>
          <p:nvPr/>
        </p:nvSpPr>
        <p:spPr>
          <a:xfrm>
            <a:off x="10515600" y="3154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0" y="3154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♣</a:t>
            </a:r>
            <a:endParaRPr lang="en-US" sz="3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lote RL Dark">
  <a:themeElements>
    <a:clrScheme name="Belote RL Dark">
      <a:dk1>
        <a:srgbClr val="E6EBF0"/>
      </a:dk1>
      <a:lt1>
        <a:srgbClr val="0A0E13"/>
      </a:lt1>
      <a:dk2>
        <a:srgbClr val="8C99A8"/>
      </a:dk2>
      <a:lt2>
        <a:srgbClr val="121922"/>
      </a:lt2>
      <a:accent1>
        <a:srgbClr val="2DE2A6"/>
      </a:accent1>
      <a:accent2>
        <a:srgbClr val="F2545B"/>
      </a:accent2>
      <a:accent3>
        <a:srgbClr val="5B6B7D"/>
      </a:accent3>
      <a:accent4>
        <a:srgbClr val="7D8B9B"/>
      </a:accent4>
      <a:accent5>
        <a:srgbClr val="A9B4C0"/>
      </a:accent5>
      <a:accent6>
        <a:srgbClr val="243140"/>
      </a:accent6>
      <a:hlink>
        <a:srgbClr val="2DE2A6"/>
      </a:hlink>
      <a:folHlink>
        <a:srgbClr val="A9B4C0"/>
      </a:folHlink>
    </a:clrScheme>
    <a:fontScheme name="Belote RL Dar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Learning to Play Belote with Reinforcement Learning</dc:title>
  <dc:subject>PptxGenJS Presentation</dc:subject>
  <dc:creator>Noa Curiel, Yoni Benabou</dc:creator>
  <cp:lastModifiedBy>Noa Curiel, Yoni Benabou</cp:lastModifiedBy>
  <cp:revision>1</cp:revision>
  <dcterms:created xsi:type="dcterms:W3CDTF">2026-10-23T07:39:44Z</dcterms:created>
  <dcterms:modified xsi:type="dcterms:W3CDTF">2026-10-23T07:39:44Z</dcterms:modified>
</cp:coreProperties>
</file>