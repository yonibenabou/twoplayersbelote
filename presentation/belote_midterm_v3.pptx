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036687e-ef44-3dc9-c891-4286ace2dc8c}">
          <p14:sldIdLst>
            <p14:sldId id="256"/>
            <p14:sldId id="257"/>
            <p14:sldId id="258"/>
            <p14:sldId id="259"/>
          </p14:sldIdLst>
        </p14:section>
        <p14:section name="Method" id="{9305e20a-94e2-740d-aecf-161866b1864f}">
          <p14:sldIdLst>
            <p14:sldId id="260"/>
            <p14:sldId id="261"/>
            <p14:sldId id="262"/>
            <p14:sldId id="263"/>
          </p14:sldIdLst>
        </p14:section>
        <p14:section name="Results" id="{0668d608-a745-dc24-6ddd-51829f63c549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Conclusion" id="{b39978f5-2472-abc3-c555-f2b2840e6c05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vs TrumpCount</c:v>
                </c:pt>
              </c:strCache>
            </c:strRef>
          </c:tx>
          <c:spPr>
            <a:solidFill>
              <a:srgbClr val="5B6B7D"/>
            </a:solidFill>
            <a:effectLst/>
          </c:spPr>
          <c:invertIfNegative val="0"/>
          <c:dLbls>
            <c:numFmt formatCode="+0.0;−0.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7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B7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7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6B7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6B7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E2A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+ entropy 0.03</c:v>
                  </c:pt>
                  <c:pt idx="2">
                    <c:v>+ lr 3e-4</c:v>
                  </c:pt>
                  <c:pt idx="3">
                    <c:v>vs heuristics</c:v>
                  </c:pt>
                  <c:pt idx="4">
                    <c:v>No win bonus</c:v>
                  </c:pt>
                  <c:pt idx="5">
                    <c:v>No bonus + lr 3e-4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-4.6</c:v>
                </c:pt>
                <c:pt idx="1">
                  <c:v>-1.7</c:v>
                </c:pt>
                <c:pt idx="2">
                  <c:v>-2.4</c:v>
                </c:pt>
                <c:pt idx="3">
                  <c:v>-2.2</c:v>
                </c:pt>
                <c:pt idx="4">
                  <c:v>-0.4</c:v>
                </c:pt>
                <c:pt idx="5">
                  <c:v>1</c:v>
                </c:pt>
              </c:numCache>
            </c:numRef>
          </c:val>
        </c:ser>
        <c:dLbls>
          <c:numFmt formatCode="+0.0;−0.0;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BF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-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2DE2A6"/>
            </a:solidFill>
            <a:effectLst/>
          </c:spPr>
          <c:invertIfNegative val="0"/>
          <c:dLbls>
            <c:numFmt formatCode="+0.0;−0.0;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250k</c:v>
                  </c:pt>
                  <c:pt idx="2">
                    <c:v>500k</c:v>
                  </c:pt>
                  <c:pt idx="3">
                    <c:v>1M</c:v>
                  </c:pt>
                  <c:pt idx="4">
                    <c:v>1.5M</c:v>
                  </c:pt>
                  <c:pt idx="5">
                    <c:v>2M</c:v>
                  </c:pt>
                  <c:pt idx="6">
                    <c:v>2.5M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12.5</c:v>
                </c:pt>
                <c:pt idx="1">
                  <c:v>3</c:v>
                </c:pt>
                <c:pt idx="2">
                  <c:v>1.5</c:v>
                </c:pt>
                <c:pt idx="3">
                  <c:v>1.3</c:v>
                </c:pt>
                <c:pt idx="4">
                  <c:v>0.7</c:v>
                </c:pt>
                <c:pt idx="5">
                  <c:v>0.2</c:v>
                </c:pt>
                <c:pt idx="6">
                  <c:v>0</c:v>
                </c:pt>
              </c:numCache>
            </c:numRef>
          </c:val>
        </c:ser>
        <c:dLbls>
          <c:numFmt formatCode="+0.0;−0.0;0.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99A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RL agent that learns two-player Belote from scratch with PPO self-play.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numbers: final agent re-evaluated on 3 000 duplicate deals (6 000 games) per opponent.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82296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 TO PLAY BELOTE  ·  MID-TERM REVIEW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MID-TERM REVIEW  ·  TECHNION  ·  2026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Learning to Play Belote with Reinforcement Learning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PPO self-play on a two-player Belote environment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Noa Curiel  &amp;  Yoni Benabou</a:t>
            </a:r>
            <a:endParaRPr lang="en-US" sz="1600" dirty="0"/>
          </a:p>
        </p:txBody>
      </p:sp>
      <p:sp>
        <p:nvSpPr>
          <p:cNvPr id="6" name="suit tile 0"/>
          <p:cNvSpPr/>
          <p:nvPr/>
        </p:nvSpPr>
        <p:spPr>
          <a:xfrm>
            <a:off x="9372600" y="2011680"/>
            <a:ext cx="960120" cy="960120"/>
          </a:xfrm>
          <a:prstGeom prst="roundRect">
            <a:avLst>
              <a:gd name="adj" fmla="val 9524"/>
            </a:avLst>
          </a:prstGeom>
          <a:solidFill>
            <a:schemeClr val="bg2">
              <a:alpha val="8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72600" y="20116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♠</a:t>
            </a:r>
            <a:endParaRPr lang="en-US" sz="3400" dirty="0"/>
          </a:p>
        </p:txBody>
      </p:sp>
      <p:sp>
        <p:nvSpPr>
          <p:cNvPr id="8" name="suit tile 1"/>
          <p:cNvSpPr/>
          <p:nvPr/>
        </p:nvSpPr>
        <p:spPr>
          <a:xfrm>
            <a:off x="10515600" y="2011680"/>
            <a:ext cx="960120" cy="960120"/>
          </a:xfrm>
          <a:prstGeom prst="roundRect">
            <a:avLst>
              <a:gd name="adj" fmla="val 9524"/>
            </a:avLst>
          </a:prstGeom>
          <a:solidFill>
            <a:schemeClr val="bg2">
              <a:alpha val="8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0" y="20116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accent2"/>
                </a:solidFill>
              </a:rPr>
              <a:t>♥</a:t>
            </a:r>
            <a:endParaRPr lang="en-US" sz="3400" dirty="0"/>
          </a:p>
        </p:txBody>
      </p:sp>
      <p:sp>
        <p:nvSpPr>
          <p:cNvPr id="10" name="suit tile 2"/>
          <p:cNvSpPr/>
          <p:nvPr/>
        </p:nvSpPr>
        <p:spPr>
          <a:xfrm>
            <a:off x="9372600" y="3154680"/>
            <a:ext cx="960120" cy="960120"/>
          </a:xfrm>
          <a:prstGeom prst="roundRect">
            <a:avLst>
              <a:gd name="adj" fmla="val 9524"/>
            </a:avLst>
          </a:prstGeom>
          <a:solidFill>
            <a:schemeClr val="bg2">
              <a:alpha val="8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72600" y="31546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accent2"/>
                </a:solidFill>
              </a:rPr>
              <a:t>♦</a:t>
            </a:r>
            <a:endParaRPr lang="en-US" sz="3400" dirty="0"/>
          </a:p>
        </p:txBody>
      </p:sp>
      <p:sp>
        <p:nvSpPr>
          <p:cNvPr id="12" name="suit tile 3"/>
          <p:cNvSpPr/>
          <p:nvPr/>
        </p:nvSpPr>
        <p:spPr>
          <a:xfrm>
            <a:off x="10515600" y="3154680"/>
            <a:ext cx="960120" cy="960120"/>
          </a:xfrm>
          <a:prstGeom prst="roundRect">
            <a:avLst>
              <a:gd name="adj" fmla="val 9524"/>
            </a:avLst>
          </a:prstGeom>
          <a:solidFill>
            <a:schemeClr val="bg2">
              <a:alpha val="8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0" y="31546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♣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MOTIVATION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Belote?</a:t>
            </a:r>
            <a:endParaRPr lang="en-US" sz="3400" dirty="0"/>
          </a:p>
        </p:txBody>
      </p:sp>
      <p:sp>
        <p:nvSpPr>
          <p:cNvPr id="4" name="why card 0"/>
          <p:cNvSpPr/>
          <p:nvPr/>
        </p:nvSpPr>
        <p:spPr>
          <a:xfrm>
            <a:off x="548640" y="178308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why icon bg 0"/>
          <p:cNvSpPr/>
          <p:nvPr/>
        </p:nvSpPr>
        <p:spPr>
          <a:xfrm>
            <a:off x="822960" y="2075688"/>
            <a:ext cx="658368" cy="6583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219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842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 popular strategic game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3774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One of the most played card games in France, with a Belote tournament held every year at the Technion.</a:t>
            </a:r>
            <a:endParaRPr lang="en-US" sz="1500" dirty="0"/>
          </a:p>
        </p:txBody>
      </p:sp>
      <p:sp>
        <p:nvSpPr>
          <p:cNvPr id="9" name="why card 1"/>
          <p:cNvSpPr/>
          <p:nvPr/>
        </p:nvSpPr>
        <p:spPr>
          <a:xfrm>
            <a:off x="548640" y="324612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why icon bg 1"/>
          <p:cNvSpPr/>
          <p:nvPr/>
        </p:nvSpPr>
        <p:spPr>
          <a:xfrm>
            <a:off x="822960" y="3538728"/>
            <a:ext cx="658368" cy="6583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6850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83080" y="344728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 real AI challenge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783080" y="384048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Imperfect information: the opponent's hand is hidden, so every decision is a bet on what they hold and on how the trick will unfold.</a:t>
            </a:r>
            <a:endParaRPr lang="en-US" sz="1500" dirty="0"/>
          </a:p>
        </p:txBody>
      </p:sp>
      <p:sp>
        <p:nvSpPr>
          <p:cNvPr id="14" name="why card 2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why icon bg 2"/>
          <p:cNvSpPr/>
          <p:nvPr/>
        </p:nvSpPr>
        <p:spPr>
          <a:xfrm>
            <a:off x="822960" y="5001768"/>
            <a:ext cx="658368" cy="6583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514807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49103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Our motivation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53035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As long-time players, we wanted to see whether an RL agent can rediscover human conventions — or beat them — purely through self-play.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THE GAME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Our two-player Belote variant</a:t>
            </a:r>
            <a:endParaRPr lang="en-US" sz="3400" dirty="0"/>
          </a:p>
        </p:txBody>
      </p:sp>
      <p:sp>
        <p:nvSpPr>
          <p:cNvPr id="4" name="rules card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32-card deck, 8 cards per player — 16 stay hidden all round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Trump suit drawn at random each round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Must follow suit; otherwise must trump; must over-trump when trump is led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Highest card wins the trick (trump beats every other suit)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+10 for the last trick (dix de der), +20 for King + Queen of trump (belote-rebelote)</a:t>
            </a:r>
            <a:endParaRPr lang="en-US" sz="1500" dirty="0"/>
          </a:p>
        </p:txBody>
      </p:sp>
      <p:sp>
        <p:nvSpPr>
          <p:cNvPr id="7" name="points card"/>
          <p:cNvSpPr/>
          <p:nvPr/>
        </p:nvSpPr>
        <p:spPr>
          <a:xfrm>
            <a:off x="6217920" y="1783080"/>
            <a:ext cx="539496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NON-TRUMP</a:t>
            </a:r>
            <a:endParaRPr lang="en-US" sz="1100" dirty="0"/>
          </a:p>
        </p:txBody>
      </p:sp>
      <p:pic>
        <p:nvPicPr>
          <p:cNvPr id="9" name="NON-TRUMP cards photo" descr="cards_nontr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331720"/>
            <a:ext cx="4846320" cy="1118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75213" y="349628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pts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263271" y="349628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pts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933380" y="349628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pts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597505" y="349628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pts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297529" y="349628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pts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254827" y="349628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pts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TRUMP</a:t>
            </a:r>
            <a:endParaRPr lang="en-US" sz="1100" dirty="0"/>
          </a:p>
        </p:txBody>
      </p:sp>
      <p:pic>
        <p:nvPicPr>
          <p:cNvPr id="17" name="TRUMP cards photo" descr="cards_trum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4251960"/>
            <a:ext cx="4846320" cy="107845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530902" y="537613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pts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191457" y="537613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pts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845272" y="537613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pts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8505828" y="537613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pts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9146162" y="537613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pts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9799977" y="537613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pts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0507715" y="537613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pts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492240" y="5715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In trump, the Jack and the Nine jump to the top.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SCOPE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four-player Coinche to two-player Belote</a:t>
            </a:r>
            <a:endParaRPr lang="en-US" sz="3400" dirty="0"/>
          </a:p>
        </p:txBody>
      </p:sp>
      <p:sp>
        <p:nvSpPr>
          <p:cNvPr id="4" name="scope card 0"/>
          <p:cNvSpPr/>
          <p:nvPr/>
        </p:nvSpPr>
        <p:spPr>
          <a:xfrm>
            <a:off x="548640" y="1828800"/>
            <a:ext cx="3474720" cy="40233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IDEA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Four-player Coinche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Two teams of two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Bidding &amp; contracts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Full original rules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3566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cope card 1"/>
          <p:cNvSpPr/>
          <p:nvPr/>
        </p:nvSpPr>
        <p:spPr>
          <a:xfrm>
            <a:off x="4343400" y="1828800"/>
            <a:ext cx="3474720" cy="40233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103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Too noisy for PPO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1546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 hidden hands + a partner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Reward shared by the team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Bidding adds huge variance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3566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cope card 2"/>
          <p:cNvSpPr/>
          <p:nvPr/>
        </p:nvSpPr>
        <p:spPr>
          <a:xfrm>
            <a:off x="8138160" y="1828800"/>
            <a:ext cx="3474720" cy="40233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2103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CHOICE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Two-player Belote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1546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opponent, zero-sum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Keeps trumps, cutting, hidden info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Single shared network in self-play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PIPELINE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Development pipeline</a:t>
            </a:r>
            <a:endParaRPr lang="en-US" sz="3400" dirty="0"/>
          </a:p>
        </p:txBody>
      </p:sp>
      <p:sp>
        <p:nvSpPr>
          <p:cNvPr id="4" name="pipeline step 0"/>
          <p:cNvSpPr/>
          <p:nvPr/>
        </p:nvSpPr>
        <p:spPr>
          <a:xfrm>
            <a:off x="548640" y="201168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2176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Rule engine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200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Legal moves, scoring</a:t>
            </a:r>
            <a:endParaRPr lang="en-US" sz="1200" dirty="0"/>
          </a:p>
        </p:txBody>
      </p:sp>
      <p:sp>
        <p:nvSpPr>
          <p:cNvPr id="8" name="pipeline step 1"/>
          <p:cNvSpPr/>
          <p:nvPr/>
        </p:nvSpPr>
        <p:spPr>
          <a:xfrm>
            <a:off x="2148840" y="201168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13432" y="2176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313432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Gym env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13432" y="3200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598-dim obs, action mask</a:t>
            </a:r>
            <a:endParaRPr lang="en-US" sz="1200" dirty="0"/>
          </a:p>
        </p:txBody>
      </p:sp>
      <p:sp>
        <p:nvSpPr>
          <p:cNvPr id="12" name="pipeline step 2"/>
          <p:cNvSpPr/>
          <p:nvPr/>
        </p:nvSpPr>
        <p:spPr>
          <a:xfrm>
            <a:off x="3749040" y="201168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13632" y="2176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13632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Baselines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13632" y="3200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 reference agents</a:t>
            </a:r>
            <a:endParaRPr lang="en-US" sz="1200" dirty="0"/>
          </a:p>
        </p:txBody>
      </p:sp>
      <p:sp>
        <p:nvSpPr>
          <p:cNvPr id="16" name="pipeline step 3"/>
          <p:cNvSpPr/>
          <p:nvPr/>
        </p:nvSpPr>
        <p:spPr>
          <a:xfrm>
            <a:off x="5349240" y="201168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13832" y="2176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13832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Actor-critic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513832" y="3200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Shared policy + value</a:t>
            </a:r>
            <a:endParaRPr lang="en-US" sz="1200" dirty="0"/>
          </a:p>
        </p:txBody>
      </p:sp>
      <p:sp>
        <p:nvSpPr>
          <p:cNvPr id="20" name="pipeline step 4"/>
          <p:cNvSpPr/>
          <p:nvPr/>
        </p:nvSpPr>
        <p:spPr>
          <a:xfrm>
            <a:off x="6949440" y="201168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176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Self-play + GAE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3200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Experience &amp; advantages</a:t>
            </a:r>
            <a:endParaRPr lang="en-US" sz="1200" dirty="0"/>
          </a:p>
        </p:txBody>
      </p:sp>
      <p:sp>
        <p:nvSpPr>
          <p:cNvPr id="24" name="pipeline step 5"/>
          <p:cNvSpPr/>
          <p:nvPr/>
        </p:nvSpPr>
        <p:spPr>
          <a:xfrm>
            <a:off x="8549640" y="201168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14232" y="2176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714232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PPO update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714232" y="3200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Clipped objective</a:t>
            </a:r>
            <a:endParaRPr lang="en-US" sz="1200" dirty="0"/>
          </a:p>
        </p:txBody>
      </p:sp>
      <p:sp>
        <p:nvSpPr>
          <p:cNvPr id="28" name="pipeline step 6"/>
          <p:cNvSpPr/>
          <p:nvPr/>
        </p:nvSpPr>
        <p:spPr>
          <a:xfrm>
            <a:off x="10149840" y="2011680"/>
            <a:ext cx="146304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14432" y="2176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314432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314432" y="3200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Duplicate deals</a:t>
            </a:r>
            <a:endParaRPr lang="en-US" sz="1200" dirty="0"/>
          </a:p>
        </p:txBody>
      </p:sp>
      <p:sp>
        <p:nvSpPr>
          <p:cNvPr id="32" name="principle card"/>
          <p:cNvSpPr/>
          <p:nvPr/>
        </p:nvSpPr>
        <p:spPr>
          <a:xfrm>
            <a:off x="548640" y="4434840"/>
            <a:ext cx="11064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4645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DESIGN PRINCIPLE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stage is validated by its own test suite (7 in total) before the next one is built on it. Two silent bugs still slipped through — found by code review and by analysing why the agent did not learn, then locked in by new tests.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ENVIRONMENT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Belote environment</a:t>
            </a:r>
            <a:endParaRPr lang="en-US" sz="3400" dirty="0"/>
          </a:p>
        </p:txBody>
      </p:sp>
      <p:sp>
        <p:nvSpPr>
          <p:cNvPr id="4" name="env card 0"/>
          <p:cNvSpPr/>
          <p:nvPr/>
        </p:nvSpPr>
        <p:spPr>
          <a:xfrm>
            <a:off x="548640" y="1783080"/>
            <a:ext cx="347472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91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598-dim vector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My hand (32) + cards played (32)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Trump suit (4), both scores (2)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Who won each trick: me / opponent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Per-trick detail: my card, theirs, leader</a:t>
            </a:r>
            <a:endParaRPr lang="en-US" sz="1500" dirty="0"/>
          </a:p>
        </p:txBody>
      </p:sp>
      <p:sp>
        <p:nvSpPr>
          <p:cNvPr id="8" name="env card 1"/>
          <p:cNvSpPr/>
          <p:nvPr/>
        </p:nvSpPr>
        <p:spPr>
          <a:xfrm>
            <a:off x="4343400" y="1783080"/>
            <a:ext cx="347472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3591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 of 32 cards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8803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Illegal cards masked to −∞ before the softmax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agent only ever samples a legal move</a:t>
            </a:r>
            <a:endParaRPr lang="en-US" sz="1500" dirty="0"/>
          </a:p>
        </p:txBody>
      </p:sp>
      <p:sp>
        <p:nvSpPr>
          <p:cNvPr id="12" name="env card 2"/>
          <p:cNvSpPr/>
          <p:nvPr/>
        </p:nvSpPr>
        <p:spPr>
          <a:xfrm>
            <a:off x="8138160" y="1783080"/>
            <a:ext cx="347472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3591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Points actually won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8803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Trick points, normalized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+ dix de der, + belote-rebelote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±1 win bonus (removed — see results)</a:t>
            </a:r>
            <a:endParaRPr lang="en-US" sz="1500" dirty="0"/>
          </a:p>
        </p:txBody>
      </p:sp>
      <p:sp>
        <p:nvSpPr>
          <p:cNvPr id="16" name="bug card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230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FIXED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Trick winners were stored as an absolute seat (0/1) while everything else was relative to the active player — breaking the perspective a shared self-play network relies on. Re-encoded as me / opponent / not played.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BASELINES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Hand-crafted reference opponents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Strength = average point margin per game against the Random agent (duplicate deals, 10 000 games each)</a:t>
            </a:r>
            <a:endParaRPr lang="en-US" sz="1300" dirty="0"/>
          </a:p>
        </p:txBody>
      </p:sp>
      <p:sp>
        <p:nvSpPr>
          <p:cNvPr id="5" name="baseline Random"/>
          <p:cNvSpPr/>
          <p:nvPr/>
        </p:nvSpPr>
        <p:spPr>
          <a:xfrm>
            <a:off x="548640" y="2194560"/>
            <a:ext cx="110642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Random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3317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Plays a uniformly random legal card. Sanity floor.</a:t>
            </a:r>
            <a:endParaRPr lang="en-US" sz="1300" dirty="0"/>
          </a:p>
        </p:txBody>
      </p:sp>
      <p:sp>
        <p:nvSpPr>
          <p:cNvPr id="8" name="baseline track Random"/>
          <p:cNvSpPr/>
          <p:nvPr/>
        </p:nvSpPr>
        <p:spPr>
          <a:xfrm>
            <a:off x="8229600" y="2523744"/>
            <a:ext cx="2377440" cy="1828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9" name="baseline bar Random"/>
          <p:cNvSpPr/>
          <p:nvPr/>
        </p:nvSpPr>
        <p:spPr>
          <a:xfrm>
            <a:off x="8229600" y="2523744"/>
            <a:ext cx="118872" cy="1828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4420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</a:t>
            </a:r>
            <a:endParaRPr lang="en-US" sz="1600" dirty="0"/>
          </a:p>
        </p:txBody>
      </p:sp>
      <p:sp>
        <p:nvSpPr>
          <p:cNvPr id="11" name="baseline Heuristic"/>
          <p:cNvSpPr/>
          <p:nvPr/>
        </p:nvSpPr>
        <p:spPr>
          <a:xfrm>
            <a:off x="548640" y="3182112"/>
            <a:ext cx="110642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3192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Heuristic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31927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Leads its strongest trump, wins tricks as cheaply as possible, discards low.</a:t>
            </a:r>
            <a:endParaRPr lang="en-US" sz="1300" dirty="0"/>
          </a:p>
        </p:txBody>
      </p:sp>
      <p:sp>
        <p:nvSpPr>
          <p:cNvPr id="14" name="baseline track Heuristic"/>
          <p:cNvSpPr/>
          <p:nvPr/>
        </p:nvSpPr>
        <p:spPr>
          <a:xfrm>
            <a:off x="8229600" y="3511296"/>
            <a:ext cx="2377440" cy="1828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5" name="baseline bar Heuristic"/>
          <p:cNvSpPr/>
          <p:nvPr/>
        </p:nvSpPr>
        <p:spPr>
          <a:xfrm>
            <a:off x="8229600" y="3511296"/>
            <a:ext cx="1159002" cy="1828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744200" y="33649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+3.9</a:t>
            </a:r>
            <a:endParaRPr lang="en-US" sz="1600" dirty="0"/>
          </a:p>
        </p:txBody>
      </p:sp>
      <p:sp>
        <p:nvSpPr>
          <p:cNvPr id="17" name="baseline VoidExploit"/>
          <p:cNvSpPr/>
          <p:nvPr/>
        </p:nvSpPr>
        <p:spPr>
          <a:xfrm>
            <a:off x="548640" y="4169664"/>
            <a:ext cx="110642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30682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VoidExploit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430682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Tracks suits the opponent can't follow and leads them to drain its trumps.</a:t>
            </a:r>
            <a:endParaRPr lang="en-US" sz="1300" dirty="0"/>
          </a:p>
        </p:txBody>
      </p:sp>
      <p:sp>
        <p:nvSpPr>
          <p:cNvPr id="20" name="baseline track VoidExploit"/>
          <p:cNvSpPr/>
          <p:nvPr/>
        </p:nvSpPr>
        <p:spPr>
          <a:xfrm>
            <a:off x="8229600" y="4498848"/>
            <a:ext cx="2377440" cy="1828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1" name="baseline bar VoidExploit"/>
          <p:cNvSpPr/>
          <p:nvPr/>
        </p:nvSpPr>
        <p:spPr>
          <a:xfrm>
            <a:off x="8229600" y="4498848"/>
            <a:ext cx="2169414" cy="1828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744200" y="435254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+7.3</a:t>
            </a:r>
            <a:endParaRPr lang="en-US" sz="1600" dirty="0"/>
          </a:p>
        </p:txBody>
      </p:sp>
      <p:sp>
        <p:nvSpPr>
          <p:cNvPr id="23" name="baseline TrumpCount"/>
          <p:cNvSpPr/>
          <p:nvPr/>
        </p:nvSpPr>
        <p:spPr>
          <a:xfrm>
            <a:off x="548640" y="5157216"/>
            <a:ext cx="110642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29437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TrumpCount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529437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Counts remaining trumps and leads trump only when holding the majority.</a:t>
            </a:r>
            <a:endParaRPr lang="en-US" sz="1300" dirty="0"/>
          </a:p>
        </p:txBody>
      </p:sp>
      <p:sp>
        <p:nvSpPr>
          <p:cNvPr id="26" name="baseline track TrumpCount"/>
          <p:cNvSpPr/>
          <p:nvPr/>
        </p:nvSpPr>
        <p:spPr>
          <a:xfrm>
            <a:off x="8229600" y="5486400"/>
            <a:ext cx="2377440" cy="18288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7" name="baseline bar TrumpCount"/>
          <p:cNvSpPr/>
          <p:nvPr/>
        </p:nvSpPr>
        <p:spPr>
          <a:xfrm>
            <a:off x="8229600" y="5486400"/>
            <a:ext cx="2347722" cy="182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744200" y="53400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+7.9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AGENT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shared network, trained by PPO self-play</a:t>
            </a:r>
            <a:endParaRPr lang="en-US" sz="3400" dirty="0"/>
          </a:p>
        </p:txBody>
      </p:sp>
      <p:sp>
        <p:nvSpPr>
          <p:cNvPr id="4" name="network card"/>
          <p:cNvSpPr/>
          <p:nvPr/>
        </p:nvSpPr>
        <p:spPr>
          <a:xfrm>
            <a:off x="548640" y="1783080"/>
            <a:ext cx="512064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ACTOR-CRITIC NETWORK</a:t>
            </a:r>
            <a:endParaRPr lang="en-US" sz="1100" dirty="0"/>
          </a:p>
        </p:txBody>
      </p:sp>
      <p:sp>
        <p:nvSpPr>
          <p:cNvPr id="6" name="layer 0"/>
          <p:cNvSpPr/>
          <p:nvPr/>
        </p:nvSpPr>
        <p:spPr>
          <a:xfrm>
            <a:off x="1280160" y="2468880"/>
            <a:ext cx="365760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2468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Observation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598</a:t>
            </a:r>
            <a:endParaRPr lang="en-US" sz="1400" dirty="0"/>
          </a:p>
        </p:txBody>
      </p:sp>
      <p:sp>
        <p:nvSpPr>
          <p:cNvPr id="9" name="layer 1"/>
          <p:cNvSpPr/>
          <p:nvPr/>
        </p:nvSpPr>
        <p:spPr>
          <a:xfrm>
            <a:off x="1280160" y="3246120"/>
            <a:ext cx="365760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3246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Dense + ReLU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246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1400" dirty="0"/>
          </a:p>
        </p:txBody>
      </p:sp>
      <p:sp>
        <p:nvSpPr>
          <p:cNvPr id="12" name="layer 2"/>
          <p:cNvSpPr/>
          <p:nvPr/>
        </p:nvSpPr>
        <p:spPr>
          <a:xfrm>
            <a:off x="1280160" y="4023360"/>
            <a:ext cx="365760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Dense + ReLU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4023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1400" dirty="0"/>
          </a:p>
        </p:txBody>
      </p:sp>
      <p:sp>
        <p:nvSpPr>
          <p:cNvPr id="15" name="head Policy"/>
          <p:cNvSpPr/>
          <p:nvPr/>
        </p:nvSpPr>
        <p:spPr>
          <a:xfrm>
            <a:off x="1280160" y="4846320"/>
            <a:ext cx="1737360" cy="685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80160" y="4873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Policy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93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logits</a:t>
            </a:r>
            <a:endParaRPr lang="en-US" sz="1100" dirty="0"/>
          </a:p>
        </p:txBody>
      </p:sp>
      <p:sp>
        <p:nvSpPr>
          <p:cNvPr id="18" name="head Value"/>
          <p:cNvSpPr/>
          <p:nvPr/>
        </p:nvSpPr>
        <p:spPr>
          <a:xfrm>
            <a:off x="3200400" y="4846320"/>
            <a:ext cx="1737360" cy="685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00400" y="4873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Value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5193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scalar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669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Same weights play both seats — observations are always seen from the active player.</a:t>
            </a:r>
            <a:endParaRPr lang="en-US" sz="1200" dirty="0"/>
          </a:p>
        </p:txBody>
      </p:sp>
      <p:sp>
        <p:nvSpPr>
          <p:cNvPr id="22" name="ppo card"/>
          <p:cNvSpPr/>
          <p:nvPr/>
        </p:nvSpPr>
        <p:spPr>
          <a:xfrm>
            <a:off x="5943600" y="1783080"/>
            <a:ext cx="566928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LOOP</a:t>
            </a:r>
            <a:endParaRPr lang="en-US" sz="1100" dirty="0"/>
          </a:p>
        </p:txBody>
      </p:sp>
      <p:sp>
        <p:nvSpPr>
          <p:cNvPr id="24" name="loop step 0"/>
          <p:cNvSpPr/>
          <p:nvPr/>
        </p:nvSpPr>
        <p:spPr>
          <a:xfrm>
            <a:off x="6217920" y="2468880"/>
            <a:ext cx="502920" cy="5029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423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Rollout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2743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128 self-play rounds, alternating who leads</a:t>
            </a:r>
            <a:endParaRPr lang="en-US" sz="1300" dirty="0"/>
          </a:p>
        </p:txBody>
      </p:sp>
      <p:sp>
        <p:nvSpPr>
          <p:cNvPr id="28" name="loop step 1"/>
          <p:cNvSpPr/>
          <p:nvPr/>
        </p:nvSpPr>
        <p:spPr>
          <a:xfrm>
            <a:off x="6217920" y="3273552"/>
            <a:ext cx="502920" cy="5029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32278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Credit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35478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Trick reward sent back to the move that earned it</a:t>
            </a:r>
            <a:endParaRPr lang="en-US" sz="1300" dirty="0"/>
          </a:p>
        </p:txBody>
      </p:sp>
      <p:sp>
        <p:nvSpPr>
          <p:cNvPr id="32" name="loop step 2"/>
          <p:cNvSpPr/>
          <p:nvPr/>
        </p:nvSpPr>
        <p:spPr>
          <a:xfrm>
            <a:off x="6217920" y="4078224"/>
            <a:ext cx="502920" cy="5029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40325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43525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Advantages computed per seat (γ = λ = 1)</a:t>
            </a:r>
            <a:endParaRPr lang="en-US" sz="1300" dirty="0"/>
          </a:p>
        </p:txBody>
      </p:sp>
      <p:sp>
        <p:nvSpPr>
          <p:cNvPr id="36" name="loop step 3"/>
          <p:cNvSpPr/>
          <p:nvPr/>
        </p:nvSpPr>
        <p:spPr>
          <a:xfrm>
            <a:off x="6217920" y="4882896"/>
            <a:ext cx="502920" cy="5029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48371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PPO update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515721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Clip ε 0.2 · 4 epochs · batch 256 · Adam 3e-4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217920" y="5669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→ evaluation every 50 000 games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EVALUATION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Measuring skill in a game of luck</a:t>
            </a:r>
            <a:endParaRPr lang="en-US" sz="3400" dirty="0"/>
          </a:p>
        </p:txBody>
      </p:sp>
      <p:sp>
        <p:nvSpPr>
          <p:cNvPr id="4" name="luck stat card"/>
          <p:cNvSpPr/>
          <p:nvPr/>
        </p:nvSpPr>
        <p:spPr>
          <a:xfrm>
            <a:off x="548640" y="1783080"/>
            <a:ext cx="3566160" cy="43434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56%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Win rate of our best hand-crafted agent against a random player.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deal decides most games. A plain evaluation's error bar (±3–7 pp) was larger than the progress we wanted to detect.</a:t>
            </a:r>
            <a:endParaRPr lang="en-US" sz="1300" dirty="0"/>
          </a:p>
        </p:txBody>
      </p:sp>
      <p:sp>
        <p:nvSpPr>
          <p:cNvPr id="8" name="duplicate card"/>
          <p:cNvSpPr/>
          <p:nvPr/>
        </p:nvSpPr>
        <p:spPr>
          <a:xfrm>
            <a:off x="4389120" y="1783080"/>
            <a:ext cx="72237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 DEALS — AS IN BRIDGE</a:t>
            </a:r>
            <a:endParaRPr lang="en-US" sz="1100" dirty="0"/>
          </a:p>
        </p:txBody>
      </p:sp>
      <p:sp>
        <p:nvSpPr>
          <p:cNvPr id="10" name="deal box"/>
          <p:cNvSpPr/>
          <p:nvPr/>
        </p:nvSpPr>
        <p:spPr>
          <a:xfrm>
            <a:off x="4663440" y="2697480"/>
            <a:ext cx="155448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 deal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46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 A,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trump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697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dup game 0"/>
          <p:cNvSpPr/>
          <p:nvPr/>
        </p:nvSpPr>
        <p:spPr>
          <a:xfrm>
            <a:off x="6766560" y="2697480"/>
            <a:ext cx="265176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Game 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Agent: A   Opp: B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dup game 1"/>
          <p:cNvSpPr/>
          <p:nvPr/>
        </p:nvSpPr>
        <p:spPr>
          <a:xfrm>
            <a:off x="6766560" y="3337560"/>
            <a:ext cx="265176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3337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Game 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3337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Agent: B   Opp: 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0" y="26974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Same cards, seats swapped: the luck of the deal cancels out.</a:t>
            </a:r>
            <a:endParaRPr lang="en-US" sz="1300" dirty="0"/>
          </a:p>
        </p:txBody>
      </p:sp>
      <p:sp>
        <p:nvSpPr>
          <p:cNvPr id="22" name="precision card"/>
          <p:cNvSpPr/>
          <p:nvPr/>
        </p:nvSpPr>
        <p:spPr>
          <a:xfrm>
            <a:off x="4389120" y="4526280"/>
            <a:ext cx="7223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PRECISION, SAME 4 000 GAMES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50749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Heuristic vs Random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50749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±1.44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±0.74 pts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540410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TrumpCount vs Heuristic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54041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±1.22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±0.52 pts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57332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VoidExploit vs Heuristic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57332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±1.20  →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±0.41 pts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50749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4–9× fewer games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for the same precision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ABLATIONS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unlocked learning</a:t>
            </a:r>
            <a:endParaRPr lang="en-US" sz="3400" dirty="0"/>
          </a:p>
        </p:txBody>
      </p:sp>
      <p:sp>
        <p:nvSpPr>
          <p:cNvPr id="4" name="fixes card"/>
          <p:cNvSpPr/>
          <p:nvPr/>
        </p:nvSpPr>
        <p:spPr>
          <a:xfrm>
            <a:off x="548640" y="1783080"/>
            <a:ext cx="457200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CHANGES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GAE per seat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8072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Returns mixed both players' points — the signal "who wins the points" vanished. Bug fixed.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±1 win bonus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99592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Winning a round mostly depends on the deal: the bonus was noise.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00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800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Learning rate 3e-4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518464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1e-3 made updates too abrupt (KL ≈ 0.04).</a:t>
            </a:r>
            <a:endParaRPr lang="en-US" sz="1300" dirty="0"/>
          </a:p>
        </p:txBody>
      </p:sp>
      <p:sp>
        <p:nvSpPr>
          <p:cNvPr id="15" name="ablation chart card"/>
          <p:cNvSpPr/>
          <p:nvPr/>
        </p:nvSpPr>
        <p:spPr>
          <a:xfrm>
            <a:off x="5394960" y="1783080"/>
            <a:ext cx="621792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MARGIN VS TRUMPCOUNT · 200K GAMES</a:t>
            </a:r>
            <a:endParaRPr lang="en-US" sz="1100" dirty="0"/>
          </a:p>
        </p:txBody>
      </p:sp>
      <p:graphicFrame>
        <p:nvGraphicFramePr>
          <p:cNvPr id="17" name="ablation chart" descr=""/>
          <p:cNvGraphicFramePr/>
          <p:nvPr/>
        </p:nvGraphicFramePr>
        <p:xfrm>
          <a:off x="5577840" y="233172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RESULTS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3 million games: the agent beats every baseline</a:t>
            </a:r>
            <a:endParaRPr lang="en-US" sz="3400" dirty="0"/>
          </a:p>
        </p:txBody>
      </p:sp>
      <p:pic>
        <p:nvPicPr>
          <p:cNvPr id="4" name="point margin learning curve" descr="fig_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754112" cy="4343400"/>
          </a:xfrm>
          <a:prstGeom prst="rect">
            <a:avLst/>
          </a:prstGeom>
        </p:spPr>
      </p:pic>
      <p:sp>
        <p:nvSpPr>
          <p:cNvPr id="5" name="final TrumpCount"/>
          <p:cNvSpPr/>
          <p:nvPr/>
        </p:nvSpPr>
        <p:spPr>
          <a:xfrm>
            <a:off x="8595360" y="1783080"/>
            <a:ext cx="301752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23960" y="1892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+5.0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0195560" y="19385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vs TrumpCount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±0.4 · 56.0% wins</a:t>
            </a:r>
            <a:endParaRPr lang="en-US" sz="1000" dirty="0"/>
          </a:p>
        </p:txBody>
      </p:sp>
      <p:sp>
        <p:nvSpPr>
          <p:cNvPr id="9" name="final VoidExploit"/>
          <p:cNvSpPr/>
          <p:nvPr/>
        </p:nvSpPr>
        <p:spPr>
          <a:xfrm>
            <a:off x="8595360" y="2898648"/>
            <a:ext cx="301752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23960" y="30083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+5.7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0195560" y="30540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vs VoidExploit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823960" y="3538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±0.5 · 56.2% wins</a:t>
            </a:r>
            <a:endParaRPr lang="en-US" sz="1000" dirty="0"/>
          </a:p>
        </p:txBody>
      </p:sp>
      <p:sp>
        <p:nvSpPr>
          <p:cNvPr id="13" name="final Heuristic"/>
          <p:cNvSpPr/>
          <p:nvPr/>
        </p:nvSpPr>
        <p:spPr>
          <a:xfrm>
            <a:off x="8595360" y="4014216"/>
            <a:ext cx="301752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23960" y="41239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+8.3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0195560" y="41696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vs Heuristic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46542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±0.5 · 59.2% wins</a:t>
            </a:r>
            <a:endParaRPr lang="en-US" sz="1000" dirty="0"/>
          </a:p>
        </p:txBody>
      </p:sp>
      <p:sp>
        <p:nvSpPr>
          <p:cNvPr id="17" name="final Random"/>
          <p:cNvSpPr/>
          <p:nvPr/>
        </p:nvSpPr>
        <p:spPr>
          <a:xfrm>
            <a:off x="8595360" y="5129784"/>
            <a:ext cx="301752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823960" y="52395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+12.5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019556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vs Random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823960" y="5769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±0.6 · 63.1% wins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WIN RATE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Above 56% against every baseline</a:t>
            </a:r>
            <a:endParaRPr lang="en-US" sz="3400" dirty="0"/>
          </a:p>
        </p:txBody>
      </p:sp>
      <p:pic>
        <p:nvPicPr>
          <p:cNvPr id="4" name="win rate learning curve" descr="fig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754112" cy="4343400"/>
          </a:xfrm>
          <a:prstGeom prst="rect">
            <a:avLst/>
          </a:prstGeom>
        </p:spPr>
      </p:pic>
      <p:sp>
        <p:nvSpPr>
          <p:cNvPr id="5" name="win stat card"/>
          <p:cNvSpPr/>
          <p:nvPr/>
        </p:nvSpPr>
        <p:spPr>
          <a:xfrm>
            <a:off x="8595360" y="1783080"/>
            <a:ext cx="30175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23960" y="19659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56.0%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28346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wins vs TrumpCount, our strongest heuristic (±0.7 pp, final agent re-tested on 6 000 games)</a:t>
            </a:r>
            <a:endParaRPr lang="en-US" sz="1300" dirty="0"/>
          </a:p>
        </p:txBody>
      </p:sp>
      <p:sp>
        <p:nvSpPr>
          <p:cNvPr id="8" name="ceiling card"/>
          <p:cNvSpPr/>
          <p:nvPr/>
        </p:nvSpPr>
        <p:spPr>
          <a:xfrm>
            <a:off x="8595360" y="4023360"/>
            <a:ext cx="30175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2396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NOT 80%?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823960" y="4553712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deal decides most games: even TrumpCount only wins 56% against a random player.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IN CONTEXT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Putting 56% in context</a:t>
            </a:r>
            <a:endParaRPr lang="en-US" sz="3400" dirty="0"/>
          </a:p>
        </p:txBody>
      </p:sp>
      <p:sp>
        <p:nvSpPr>
          <p:cNvPr id="4" name="context table card"/>
          <p:cNvSpPr/>
          <p:nvPr/>
        </p:nvSpPr>
        <p:spPr>
          <a:xfrm>
            <a:off x="548640" y="1783080"/>
            <a:ext cx="740664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685800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737360"/>
                <a:gridCol w="1737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C99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MATCH-UP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C99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 RATE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C99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POINTS / GAME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</a:tr>
              <a:tr h="310896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E2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HAND-CRAFTED AGENTS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3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Random vs Random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50.1%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+0.4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Heuristic vs Random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52.1%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+3.9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VoidExploit vs Random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56.0%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+7.3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TrumpCount vs Random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56.0%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+7.9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TrumpCount vs Heuristic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54.6%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+3.8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</a:tr>
              <a:tr h="310896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E2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OUR PPO AGENT (3M GAMES)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3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PPO vs Random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63.1%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+12.5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PPO vs Heuristic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59.2%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+8.3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PPO vs VoidExploit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56.2%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BF0"/>
                          </a:solidFill>
                        </a:rPr>
                        <a:t>+5.7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BF0"/>
                          </a:solidFill>
                        </a:rPr>
                        <a:t>PPO vs TrumpCount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E2A6"/>
                          </a:solidFill>
                        </a:rPr>
                        <a:t>56.0%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E2A6"/>
                          </a:solidFill>
                        </a:rPr>
                        <a:t>+5.0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22"/>
                    </a:solidFill>
                  </a:tcPr>
                </a:tc>
              </a:tr>
            </a:tbl>
          </a:graphicData>
        </a:graphic>
      </p:graphicFrame>
      <p:sp>
        <p:nvSpPr>
          <p:cNvPr id="6" name="context takeaway card"/>
          <p:cNvSpPr/>
          <p:nvPr/>
        </p:nvSpPr>
        <p:spPr>
          <a:xfrm>
            <a:off x="8229600" y="1783080"/>
            <a:ext cx="3383280" cy="434340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THE TABLE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2423160"/>
            <a:ext cx="2880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Random vs Random = 50%: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evaluation is fair.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Our best heuristic beats a random player by only 56%: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deal decides most games.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PPO wins 56% against TrumpCount — as often as TrumpCount wins against a random player.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5394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 deals · ≥ 6 000 games per match-up · win rate ±0.6–0.9 pp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SELF-PLAY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Real progress in self-play — until ~2M games</a:t>
            </a:r>
            <a:endParaRPr lang="en-US" sz="3400" dirty="0"/>
          </a:p>
        </p:txBody>
      </p:sp>
      <p:sp>
        <p:nvSpPr>
          <p:cNvPr id="4" name="checkpoint chart card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AGENT VS ITS OWN EARLIER VERSIONS</a:t>
            </a:r>
            <a:endParaRPr lang="en-US" sz="1100" dirty="0"/>
          </a:p>
        </p:txBody>
      </p:sp>
      <p:graphicFrame>
        <p:nvGraphicFramePr>
          <p:cNvPr id="6" name="checkpoint chart" descr=""/>
          <p:cNvGraphicFramePr/>
          <p:nvPr/>
        </p:nvGraphicFramePr>
        <p:xfrm>
          <a:off x="685800" y="2331720"/>
          <a:ext cx="66751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22960" y="5806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Opponent checkpoint (training games) · 1 000 duplicate deals each · ±0.5–0.9 pts</a:t>
            </a:r>
            <a:endParaRPr lang="en-US" sz="1100" dirty="0"/>
          </a:p>
        </p:txBody>
      </p:sp>
      <p:sp>
        <p:nvSpPr>
          <p:cNvPr id="8" name="plateau takeaway card"/>
          <p:cNvSpPr/>
          <p:nvPr/>
        </p:nvSpPr>
        <p:spPr>
          <a:xfrm>
            <a:off x="7772400" y="1783080"/>
            <a:ext cx="3840480" cy="434340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42316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It improves against itself,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only against our heuristics.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Gains shrink, then stop near 1.5–2M games: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last million added nothing.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Going further needs a better agent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(memory, bigger net, league self-play), not longer training.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BEHAVIOUR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the agent learned on its own</a:t>
            </a:r>
            <a:endParaRPr lang="en-US" sz="3400" dirty="0"/>
          </a:p>
        </p:txBody>
      </p:sp>
      <p:sp>
        <p:nvSpPr>
          <p:cNvPr id="4" name="good deal card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HAND, TWO PLAYERS · TRUMP ♦</a:t>
            </a:r>
            <a:endParaRPr lang="en-US" sz="1100" dirty="0"/>
          </a:p>
        </p:txBody>
      </p:sp>
      <p:sp>
        <p:nvSpPr>
          <p:cNvPr id="6" name="card 8D"/>
          <p:cNvSpPr/>
          <p:nvPr/>
        </p:nvSpPr>
        <p:spPr>
          <a:xfrm>
            <a:off x="822960" y="2377440"/>
            <a:ext cx="566928" cy="786384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14016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C8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500" dirty="0"/>
          </a:p>
        </p:txBody>
      </p:sp>
      <p:sp>
        <p:nvSpPr>
          <p:cNvPr id="8" name="card QD"/>
          <p:cNvSpPr/>
          <p:nvPr/>
        </p:nvSpPr>
        <p:spPr>
          <a:xfrm>
            <a:off x="1463040" y="2377440"/>
            <a:ext cx="566928" cy="786384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28575">
            <a:solidFill>
              <a:srgbClr val="2DE2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2414016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5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C8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500" dirty="0"/>
          </a:p>
        </p:txBody>
      </p:sp>
      <p:sp>
        <p:nvSpPr>
          <p:cNvPr id="10" name="card 10D"/>
          <p:cNvSpPr/>
          <p:nvPr/>
        </p:nvSpPr>
        <p:spPr>
          <a:xfrm>
            <a:off x="2103120" y="2377440"/>
            <a:ext cx="566928" cy="786384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28575">
            <a:solidFill>
              <a:srgbClr val="2DE2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3120" y="2414016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C8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500" dirty="0"/>
          </a:p>
        </p:txBody>
      </p:sp>
      <p:sp>
        <p:nvSpPr>
          <p:cNvPr id="12" name="card AD"/>
          <p:cNvSpPr/>
          <p:nvPr/>
        </p:nvSpPr>
        <p:spPr>
          <a:xfrm>
            <a:off x="2743200" y="2377440"/>
            <a:ext cx="566928" cy="786384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28575">
            <a:solidFill>
              <a:srgbClr val="2DE2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2414016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C8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500" dirty="0"/>
          </a:p>
        </p:txBody>
      </p:sp>
      <p:sp>
        <p:nvSpPr>
          <p:cNvPr id="14" name="card 7S"/>
          <p:cNvSpPr/>
          <p:nvPr/>
        </p:nvSpPr>
        <p:spPr>
          <a:xfrm>
            <a:off x="3383280" y="2377440"/>
            <a:ext cx="566928" cy="786384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2414016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1500" dirty="0"/>
          </a:p>
        </p:txBody>
      </p:sp>
      <p:sp>
        <p:nvSpPr>
          <p:cNvPr id="16" name="card 10H"/>
          <p:cNvSpPr/>
          <p:nvPr/>
        </p:nvSpPr>
        <p:spPr>
          <a:xfrm>
            <a:off x="4023360" y="2377440"/>
            <a:ext cx="566928" cy="786384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23360" y="2414016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C8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500" dirty="0"/>
          </a:p>
        </p:txBody>
      </p:sp>
      <p:sp>
        <p:nvSpPr>
          <p:cNvPr id="18" name="card KC"/>
          <p:cNvSpPr/>
          <p:nvPr/>
        </p:nvSpPr>
        <p:spPr>
          <a:xfrm>
            <a:off x="4663440" y="2377440"/>
            <a:ext cx="566928" cy="786384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414016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5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♣</a:t>
            </a:r>
            <a:endParaRPr lang="en-US" sz="1500" dirty="0"/>
          </a:p>
        </p:txBody>
      </p:sp>
      <p:sp>
        <p:nvSpPr>
          <p:cNvPr id="20" name="card 10C"/>
          <p:cNvSpPr/>
          <p:nvPr/>
        </p:nvSpPr>
        <p:spPr>
          <a:xfrm>
            <a:off x="5303520" y="2377440"/>
            <a:ext cx="566928" cy="786384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0" y="2414016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1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♣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246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Big trumps — but not the Jack or the Nine, the opponent holds both.</a:t>
            </a:r>
            <a:endParaRPr lang="en-US" sz="1300" dirty="0"/>
          </a:p>
        </p:txBody>
      </p:sp>
      <p:sp>
        <p:nvSpPr>
          <p:cNvPr id="23" name="deal play 0"/>
          <p:cNvSpPr/>
          <p:nvPr/>
        </p:nvSpPr>
        <p:spPr>
          <a:xfrm>
            <a:off x="822960" y="3749040"/>
            <a:ext cx="640080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3840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TrumpCount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4688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Leads the Ace of trump at once → captured by the Jack (−31 pts).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3840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pts</a:t>
            </a:r>
            <a:endParaRPr lang="en-US" sz="2400" dirty="0"/>
          </a:p>
        </p:txBody>
      </p:sp>
      <p:sp>
        <p:nvSpPr>
          <p:cNvPr id="27" name="deal play 1"/>
          <p:cNvSpPr/>
          <p:nvPr/>
        </p:nvSpPr>
        <p:spPr>
          <a:xfrm>
            <a:off x="822960" y="4846320"/>
            <a:ext cx="640080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4937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PPO agent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468880" y="4937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Ducks under the Jack with the 8, flushes out the Nine with the Queen, then cashes 10 + Ace as masters.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035040" y="4937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pts</a:t>
            </a:r>
            <a:endParaRPr lang="en-US" sz="2400" dirty="0"/>
          </a:p>
        </p:txBody>
      </p:sp>
      <p:sp>
        <p:nvSpPr>
          <p:cNvPr id="31" name="learned card"/>
          <p:cNvSpPr/>
          <p:nvPr/>
        </p:nvSpPr>
        <p:spPr>
          <a:xfrm>
            <a:off x="7772400" y="1783080"/>
            <a:ext cx="384048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LEARNED ALONE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23774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Wait for the opponent's top trumps to fall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Profitable ruffs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Cash master cards at the end</a:t>
            </a:r>
            <a:endParaRPr lang="en-US" sz="1500" dirty="0"/>
          </a:p>
        </p:txBody>
      </p:sp>
      <p:sp>
        <p:nvSpPr>
          <p:cNvPr id="34" name="mistake card"/>
          <p:cNvSpPr/>
          <p:nvPr/>
        </p:nvSpPr>
        <p:spPr>
          <a:xfrm>
            <a:off x="7772400" y="4069080"/>
            <a:ext cx="384048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WRONG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46634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Leads a Ten while the Ace is still out (−21 pts), with 100% confidence.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weak memory of which high cards remain.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NEXT STEPS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we stand — and what comes next</a:t>
            </a:r>
            <a:endParaRPr lang="en-US" sz="3400" dirty="0"/>
          </a:p>
        </p:txBody>
      </p:sp>
      <p:sp>
        <p:nvSpPr>
          <p:cNvPr id="4" name="done card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Tested Belote environment, 4 baselines, PPO from scratch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Duplicate-deal evaluation: 2–3× tighter error bars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Fixed 2 silent bugs (perspective leak, GAE across seats)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Ablations: removing the win bonus is the key change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3M games: +5.0 pts / 56% wins vs our best heuristic</a:t>
            </a:r>
            <a:endParaRPr lang="en-US" sz="1500" dirty="0"/>
          </a:p>
        </p:txBody>
      </p:sp>
      <p:sp>
        <p:nvSpPr>
          <p:cNvPr id="7" name="next card"/>
          <p:cNvSpPr/>
          <p:nvPr/>
        </p:nvSpPr>
        <p:spPr>
          <a:xfrm>
            <a:off x="6217920" y="1783080"/>
            <a:ext cx="539496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23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4231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Reproducibility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Re-run the best setup with 2 more seeds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32918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Memory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36393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LSTM or a belief table of the opponent's cards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160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41605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League self-play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4507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Train against a pool of past versions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50292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Trump choice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53766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Let the agent bid the trump suit (Phase 4)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429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Noa Curiel  &amp;  Yoni Benabou</a:t>
            </a:r>
            <a:endParaRPr lang="en-US" sz="1800" dirty="0"/>
          </a:p>
        </p:txBody>
      </p:sp>
      <p:sp>
        <p:nvSpPr>
          <p:cNvPr id="5" name="end suit tile 0"/>
          <p:cNvSpPr/>
          <p:nvPr/>
        </p:nvSpPr>
        <p:spPr>
          <a:xfrm>
            <a:off x="9372600" y="2011680"/>
            <a:ext cx="960120" cy="960120"/>
          </a:xfrm>
          <a:prstGeom prst="roundRect">
            <a:avLst>
              <a:gd name="adj" fmla="val 9524"/>
            </a:avLst>
          </a:prstGeom>
          <a:solidFill>
            <a:schemeClr val="bg2">
              <a:alpha val="8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20116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♠</a:t>
            </a:r>
            <a:endParaRPr lang="en-US" sz="3400" dirty="0"/>
          </a:p>
        </p:txBody>
      </p:sp>
      <p:sp>
        <p:nvSpPr>
          <p:cNvPr id="7" name="end suit tile 1"/>
          <p:cNvSpPr/>
          <p:nvPr/>
        </p:nvSpPr>
        <p:spPr>
          <a:xfrm>
            <a:off x="10515600" y="2011680"/>
            <a:ext cx="960120" cy="960120"/>
          </a:xfrm>
          <a:prstGeom prst="roundRect">
            <a:avLst>
              <a:gd name="adj" fmla="val 9524"/>
            </a:avLst>
          </a:prstGeom>
          <a:solidFill>
            <a:schemeClr val="bg2">
              <a:alpha val="8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0" y="20116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accent2"/>
                </a:solidFill>
              </a:rPr>
              <a:t>♥</a:t>
            </a:r>
            <a:endParaRPr lang="en-US" sz="3400" dirty="0"/>
          </a:p>
        </p:txBody>
      </p:sp>
      <p:sp>
        <p:nvSpPr>
          <p:cNvPr id="9" name="end suit tile 2"/>
          <p:cNvSpPr/>
          <p:nvPr/>
        </p:nvSpPr>
        <p:spPr>
          <a:xfrm>
            <a:off x="9372600" y="3154680"/>
            <a:ext cx="960120" cy="960120"/>
          </a:xfrm>
          <a:prstGeom prst="roundRect">
            <a:avLst>
              <a:gd name="adj" fmla="val 9524"/>
            </a:avLst>
          </a:prstGeom>
          <a:solidFill>
            <a:schemeClr val="bg2">
              <a:alpha val="8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72600" y="31546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accent2"/>
                </a:solidFill>
              </a:rPr>
              <a:t>♦</a:t>
            </a:r>
            <a:endParaRPr lang="en-US" sz="3400" dirty="0"/>
          </a:p>
        </p:txBody>
      </p:sp>
      <p:sp>
        <p:nvSpPr>
          <p:cNvPr id="11" name="end suit tile 3"/>
          <p:cNvSpPr/>
          <p:nvPr/>
        </p:nvSpPr>
        <p:spPr>
          <a:xfrm>
            <a:off x="10515600" y="3154680"/>
            <a:ext cx="960120" cy="960120"/>
          </a:xfrm>
          <a:prstGeom prst="roundRect">
            <a:avLst>
              <a:gd name="adj" fmla="val 9524"/>
            </a:avLst>
          </a:prstGeom>
          <a:solidFill>
            <a:schemeClr val="bg2">
              <a:alpha val="8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0" y="31546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♣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lote RL Dark">
  <a:themeElements>
    <a:clrScheme name="Belote RL Dark">
      <a:dk1>
        <a:srgbClr val="E6EBF0"/>
      </a:dk1>
      <a:lt1>
        <a:srgbClr val="0A0E13"/>
      </a:lt1>
      <a:dk2>
        <a:srgbClr val="8C99A8"/>
      </a:dk2>
      <a:lt2>
        <a:srgbClr val="121922"/>
      </a:lt2>
      <a:accent1>
        <a:srgbClr val="2DE2A6"/>
      </a:accent1>
      <a:accent2>
        <a:srgbClr val="F2545B"/>
      </a:accent2>
      <a:accent3>
        <a:srgbClr val="5B6B7D"/>
      </a:accent3>
      <a:accent4>
        <a:srgbClr val="7D8B9B"/>
      </a:accent4>
      <a:accent5>
        <a:srgbClr val="A9B4C0"/>
      </a:accent5>
      <a:accent6>
        <a:srgbClr val="243140"/>
      </a:accent6>
      <a:hlink>
        <a:srgbClr val="2DE2A6"/>
      </a:hlink>
      <a:folHlink>
        <a:srgbClr val="A9B4C0"/>
      </a:folHlink>
    </a:clrScheme>
    <a:fontScheme name="Belote RL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to Play Belote with Reinforcement Learning</dc:title>
  <dc:subject>PptxGenJS Presentation</dc:subject>
  <dc:creator>Noa Curiel, Yoni Benabou</dc:creator>
  <cp:lastModifiedBy>Noa Curiel, Yoni Benabou</cp:lastModifiedBy>
  <cp:revision>1</cp:revision>
  <dcterms:created xsi:type="dcterms:W3CDTF">2026-10-21T15:46:52Z</dcterms:created>
  <dcterms:modified xsi:type="dcterms:W3CDTF">2026-10-21T15:46:52Z</dcterms:modified>
</cp:coreProperties>
</file>