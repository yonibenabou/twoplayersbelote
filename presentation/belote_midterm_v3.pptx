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charts/chart1.xml" ContentType="application/vnd.openxmlformats-officedocument.drawingml.chart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charts/chart2.xml" ContentType="application/vnd.openxmlformats-officedocument.drawingml.chart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charts/chart3.xml" ContentType="application/vnd.openxmlformats-officedocument.drawingml.chart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</p:sldIdLst>
  <p:notesMasterIdLst>
    <p:notesMasterId r:id="rId2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Introduction" id="{fc6d4f49-ee7f-ded1-8d09-eccfae58461c}">
          <p14:sldIdLst>
            <p14:sldId id="256"/>
            <p14:sldId id="257"/>
            <p14:sldId id="258"/>
            <p14:sldId id="259"/>
          </p14:sldIdLst>
        </p14:section>
        <p14:section name="Method" id="{656c7ef6-cda5-453d-d750-21605f5fc3bb}">
          <p14:sldIdLst>
            <p14:sldId id="260"/>
            <p14:sldId id="261"/>
            <p14:sldId id="262"/>
            <p14:sldId id="263"/>
          </p14:sldIdLst>
        </p14:section>
        <p14:section name="Results" id="{00cd0240-745e-488d-1a88-4ac07974b726}">
          <p14:sldIdLst>
            <p14:sldId id="264"/>
            <p14:sldId id="265"/>
            <p14:sldId id="266"/>
            <p14:sldId id="267"/>
            <p14:sldId id="268"/>
            <p14:sldId id="269"/>
            <p14:sldId id="270"/>
            <p14:sldId id="271"/>
          </p14:sldIdLst>
        </p14:section>
        <p14:section name="Conclusion" id="{6e7c90c9-9d2a-a930-9f2d-9df343ffaec1}">
          <p14:sldIdLst>
            <p14:sldId id="272"/>
            <p14:sldId id="273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notesMaster" Target="notesMasters/notesMaster1.xml"/><Relationship Id="rId21" Type="http://schemas.openxmlformats.org/officeDocument/2006/relationships/presProps" Target="presProps.xml"/><Relationship Id="rId22" Type="http://schemas.openxmlformats.org/officeDocument/2006/relationships/viewProps" Target="viewProps.xml"/><Relationship Id="rId23" Type="http://schemas.openxmlformats.org/officeDocument/2006/relationships/theme" Target="theme/theme1.xml"/><Relationship Id="rId24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Margin vs TrumpCount</c:v>
                </c:pt>
              </c:strCache>
            </c:strRef>
          </c:tx>
          <c:spPr>
            <a:solidFill>
              <a:srgbClr val="5B6B7D"/>
            </a:solidFill>
            <a:effectLst/>
          </c:spPr>
          <c:invertIfNegative val="0"/>
          <c:dLbls>
            <c:numFmt formatCode="+0.0;−0.0;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E6EBF0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5B6B7D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5B6B7D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5B6B7D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5B6B7D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5B6B7D"/>
              </a:solidFill>
              <a:effectLst/>
            </c:spPr>
          </c:dPt>
          <c:dPt>
            <c:idx val="5"/>
            <c:invertIfNegative val="0"/>
            <c:bubble3D val="0"/>
            <c:spPr>
              <a:solidFill>
                <a:srgbClr val="2DE2A6"/>
              </a:solidFill>
              <a:effectLst/>
            </c:spPr>
          </c:dPt>
          <c:cat>
            <c:multiLvlStrRef>
              <c:f>Sheet1!$A$2:$A$7</c:f>
              <c:multiLvlStrCache>
                <c:ptCount val="6"/>
                <c:lvl>
                  <c:pt idx="0">
                    <c:v>Baseline</c:v>
                  </c:pt>
                  <c:pt idx="1">
                    <c:v>+ entropy 0.03</c:v>
                  </c:pt>
                  <c:pt idx="2">
                    <c:v>+ lr 3e-4</c:v>
                  </c:pt>
                  <c:pt idx="3">
                    <c:v>vs heuristics</c:v>
                  </c:pt>
                  <c:pt idx="4">
                    <c:v>No win bonus</c:v>
                  </c:pt>
                  <c:pt idx="5">
                    <c:v>No bonus + lr 3e-4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-4.6</c:v>
                </c:pt>
                <c:pt idx="1">
                  <c:v>-1.7</c:v>
                </c:pt>
                <c:pt idx="2">
                  <c:v>-2.4</c:v>
                </c:pt>
                <c:pt idx="3">
                  <c:v>-2.2</c:v>
                </c:pt>
                <c:pt idx="4">
                  <c:v>-0.4</c:v>
                </c:pt>
                <c:pt idx="5">
                  <c:v>1</c:v>
                </c:pt>
              </c:numCache>
            </c:numRef>
          </c:val>
        </c:ser>
        <c:dLbls>
          <c:numFmt formatCode="+0.0;−0.0;0" sourceLinked="0"/>
          <c:txPr>
            <a:bodyPr/>
            <a:lstStyle/>
            <a:p>
              <a:pPr>
                <a:defRPr b="0" i="0" strike="noStrike" sz="1100" u="none">
                  <a:solidFill>
                    <a:srgbClr val="E6EBF0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overlap val="0"/>
        <c:axId val="2094734554"/>
        <c:axId val="2094734552"/>
        <c:axId val="2094734556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E6EBF0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3"/>
          <c:min val="-6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Games won vs Random</c:v>
                </c:pt>
              </c:strCache>
            </c:strRef>
          </c:tx>
          <c:spPr>
            <a:solidFill>
              <a:srgbClr val="5B6B7D"/>
            </a:solidFill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E6EBF0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5B6B7D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5B6B7D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5B6B7D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2DE2A6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5B6B7D"/>
              </a:solidFill>
              <a:effectLst/>
            </c:spPr>
          </c:dPt>
          <c:cat>
            <c:multiLvlStrRef>
              <c:f>Sheet1!$A$2:$A$6</c:f>
              <c:multiLvlStrCache>
                <c:ptCount val="5"/>
                <c:lvl>
                  <c:pt idx="0">
                    <c:v>Random</c:v>
                  </c:pt>
                  <c:pt idx="1">
                    <c:v>Heuristic</c:v>
                  </c:pt>
                  <c:pt idx="2">
                    <c:v>TrumpCount</c:v>
                  </c:pt>
                  <c:pt idx="3">
                    <c:v>PPO agent</c:v>
                  </c:pt>
                  <c:pt idx="4">
                    <c:v>Cheater*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51</c:v>
                </c:pt>
                <c:pt idx="1">
                  <c:v>62</c:v>
                </c:pt>
                <c:pt idx="2">
                  <c:v>72</c:v>
                </c:pt>
                <c:pt idx="3">
                  <c:v>83</c:v>
                </c:pt>
                <c:pt idx="4">
                  <c:v>99</c:v>
                </c:pt>
              </c:numCache>
            </c:numRef>
          </c:val>
        </c:ser>
        <c:dLbls>
          <c:numFmt formatCode="0&quot;%&quot;" sourceLinked="0"/>
          <c:txPr>
            <a:bodyPr/>
            <a:lstStyle/>
            <a:p>
              <a:pPr>
                <a:defRPr b="0" i="0" strike="noStrike" sz="1100" u="none">
                  <a:solidFill>
                    <a:srgbClr val="E6EBF0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0"/>
        <c:overlap val="0"/>
        <c:axId val="2094734554"/>
        <c:axId val="2094734552"/>
        <c:axId val="2094734556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E6EBF0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10"/>
          <c:min val="0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Margin</c:v>
                </c:pt>
              </c:strCache>
            </c:strRef>
          </c:tx>
          <c:spPr>
            <a:solidFill>
              <a:srgbClr val="2DE2A6"/>
            </a:solidFill>
            <a:effectLst/>
          </c:spPr>
          <c:invertIfNegative val="0"/>
          <c:dLbls>
            <c:numFmt formatCode="+0.0;−0.0;0.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E6EBF0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0</c:v>
                  </c:pt>
                  <c:pt idx="1">
                    <c:v>250k</c:v>
                  </c:pt>
                  <c:pt idx="2">
                    <c:v>500k</c:v>
                  </c:pt>
                  <c:pt idx="3">
                    <c:v>1M</c:v>
                  </c:pt>
                  <c:pt idx="4">
                    <c:v>1.5M</c:v>
                  </c:pt>
                  <c:pt idx="5">
                    <c:v>2M</c:v>
                  </c:pt>
                  <c:pt idx="6">
                    <c:v>2.5M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12.5</c:v>
                </c:pt>
                <c:pt idx="1">
                  <c:v>3</c:v>
                </c:pt>
                <c:pt idx="2">
                  <c:v>1.5</c:v>
                </c:pt>
                <c:pt idx="3">
                  <c:v>1.3</c:v>
                </c:pt>
                <c:pt idx="4">
                  <c:v>0.7</c:v>
                </c:pt>
                <c:pt idx="5">
                  <c:v>0.2</c:v>
                </c:pt>
                <c:pt idx="6">
                  <c:v>0</c:v>
                </c:pt>
              </c:numCache>
            </c:numRef>
          </c:val>
        </c:ser>
        <c:dLbls>
          <c:numFmt formatCode="+0.0;−0.0;0.0" sourceLinked="0"/>
          <c:txPr>
            <a:bodyPr/>
            <a:lstStyle/>
            <a:p>
              <a:pPr>
                <a:defRPr b="0" i="0" strike="noStrike" sz="1100" u="none">
                  <a:solidFill>
                    <a:srgbClr val="E6EBF0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5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8C99A8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4"/>
          <c:min val="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Introduce the project: an RL agent that learns two-player Belote from scratch with PPO self-play.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Full games: first to 501 points, about 10 rounds per game. Duplicate games: each game is played twice with the same sequence of deals and hands swapped. 1 000 games per match-up, ±2 pp.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Rounds won: single rounds, duplicate deals, 6 000 rounds per match-up (1 200 for the cheater). Games won: full games to 501 points, about 10 rounds each. The cheater is an exact dynamic-programming player that sees the opponent's hand and maximises its expected point margin against a uniformly random opponent: no honest player can do better against Random.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Point margin per round (agent points minus opponent points), final agent re-evaluated on 6 000 rounds per opponent (±0.4–0.6).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Same configuration (no win bonus, lr 3e-4), three different random seeds. Each agent re-evaluated at 2M games on 6 000 duplicate games per opponent.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image" Target="../media/Cover-image-1.png"/><Relationship Id="rId2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image" Target="../media/Content-image-1.png"/><Relationship Id="rId2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ver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731520" y="1417320"/>
            <a:ext cx="8229600" cy="36576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300" b="1" spc="200" kern="0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defRPr>
            </a:lvl1pPr>
          </a:lstStyle>
          <a:p>
            <a:pPr indent="0" marL="0">
              <a:buNone/>
            </a:pPr>
            <a:endParaRPr lang="en-US" sz="13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731520" y="1874520"/>
            <a:ext cx="8229600" cy="21031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731520" y="3429000"/>
            <a:ext cx="8229600" cy="82296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800" dirty="0">
                <a:solidFill>
                  <a:schemeClr val="tx2"/>
                </a:solidFill>
              </a:defRPr>
            </a:lvl1pPr>
          </a:lstStyle>
          <a:p>
            <a:pPr indent="0" marL="0">
              <a:buNone/>
            </a:pPr>
            <a:endParaRPr lang="en-US" sz="18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382512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chemeClr val="tx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LEARNING TO PLAY BELOTE  ·  MID-TERM REVIEW</a:t>
            </a:r>
            <a:endParaRPr lang="en-US" sz="900" dirty="0"/>
          </a:p>
        </p:txBody>
      </p:sp>
      <p:sp>
        <p:nvSpPr>
          <p:cNvPr id="3" name="Text 1"/>
          <p:cNvSpPr/>
          <p:nvPr>
            <p:ph idx="101" type="body" hasCustomPrompt="1"/>
          </p:nvPr>
        </p:nvSpPr>
        <p:spPr>
          <a:xfrm>
            <a:off x="548640" y="384048"/>
            <a:ext cx="8229600" cy="292608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200" b="1" spc="200" kern="0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defRPr>
            </a:lvl1pPr>
          </a:lstStyle>
          <a:p>
            <a:pPr indent="0" marL="0">
              <a:buNone/>
            </a:pPr>
            <a:endParaRPr lang="en-US" sz="1200" dirty="0"/>
          </a:p>
        </p:txBody>
      </p:sp>
      <p:sp>
        <p:nvSpPr>
          <p:cNvPr id="4" name="Text 1"/>
          <p:cNvSpPr/>
          <p:nvPr>
            <p:ph idx="102" type="title" hasCustomPrompt="1"/>
          </p:nvPr>
        </p:nvSpPr>
        <p:spPr>
          <a:xfrm>
            <a:off x="548640" y="713232"/>
            <a:ext cx="11064240" cy="7315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400" b="1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endParaRPr lang="en-US" sz="3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09960" y="638251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tx2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09960" y="638251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tx2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3.xml"/><Relationship Id="rId5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.xml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731520" y="141732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MID-TERM REVIEW  ·  TECHNION  ·  2026</a:t>
            </a:r>
            <a:endParaRPr lang="en-US" sz="13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731520" y="1874520"/>
            <a:ext cx="822960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chemeClr val="tx1"/>
                </a:solidFill>
              </a:rPr>
              <a:t>Learning to Play Belote with Reinforcement Learning</a:t>
            </a:r>
            <a:endParaRPr lang="en-US" sz="44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731520" y="3429000"/>
            <a:ext cx="8229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tx2"/>
                </a:solidFill>
              </a:rPr>
              <a:t>PPO self-play on a two-player Belote environment</a:t>
            </a:r>
            <a:endParaRPr lang="en-US" sz="1800" dirty="0"/>
          </a:p>
        </p:txBody>
      </p:sp>
      <p:sp>
        <p:nvSpPr>
          <p:cNvPr id="5" name="Text 3"/>
          <p:cNvSpPr txBox="1"/>
          <p:nvPr/>
        </p:nvSpPr>
        <p:spPr>
          <a:xfrm>
            <a:off x="731520" y="576072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Noa Curiel  &amp;  Yoni Benabou</a:t>
            </a:r>
            <a:endParaRPr lang="en-US" sz="1600" dirty="0"/>
          </a:p>
        </p:txBody>
      </p:sp>
      <p:sp>
        <p:nvSpPr>
          <p:cNvPr id="6" name="suit tile 0"/>
          <p:cNvSpPr/>
          <p:nvPr/>
        </p:nvSpPr>
        <p:spPr>
          <a:xfrm>
            <a:off x="9372600" y="2011680"/>
            <a:ext cx="960120" cy="960120"/>
          </a:xfrm>
          <a:prstGeom prst="roundRect">
            <a:avLst>
              <a:gd name="adj" fmla="val 9524"/>
            </a:avLst>
          </a:prstGeom>
          <a:solidFill>
            <a:schemeClr val="bg2">
              <a:alpha val="80000"/>
            </a:schemeClr>
          </a:solidFill>
          <a:ln w="12700">
            <a:solidFill>
              <a:schemeClr val="accent6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9372600" y="201168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dirty="0">
                <a:solidFill>
                  <a:schemeClr val="tx1"/>
                </a:solidFill>
              </a:rPr>
              <a:t>♠</a:t>
            </a:r>
            <a:endParaRPr lang="en-US" sz="3400" dirty="0"/>
          </a:p>
        </p:txBody>
      </p:sp>
      <p:sp>
        <p:nvSpPr>
          <p:cNvPr id="8" name="suit tile 1"/>
          <p:cNvSpPr/>
          <p:nvPr/>
        </p:nvSpPr>
        <p:spPr>
          <a:xfrm>
            <a:off x="10515600" y="2011680"/>
            <a:ext cx="960120" cy="960120"/>
          </a:xfrm>
          <a:prstGeom prst="roundRect">
            <a:avLst>
              <a:gd name="adj" fmla="val 9524"/>
            </a:avLst>
          </a:prstGeom>
          <a:solidFill>
            <a:schemeClr val="bg2">
              <a:alpha val="80000"/>
            </a:schemeClr>
          </a:solidFill>
          <a:ln w="12700">
            <a:solidFill>
              <a:schemeClr val="accent6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10515600" y="201168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dirty="0">
                <a:solidFill>
                  <a:schemeClr val="accent2"/>
                </a:solidFill>
              </a:rPr>
              <a:t>♥</a:t>
            </a:r>
            <a:endParaRPr lang="en-US" sz="3400" dirty="0"/>
          </a:p>
        </p:txBody>
      </p:sp>
      <p:sp>
        <p:nvSpPr>
          <p:cNvPr id="10" name="suit tile 2"/>
          <p:cNvSpPr/>
          <p:nvPr/>
        </p:nvSpPr>
        <p:spPr>
          <a:xfrm>
            <a:off x="9372600" y="3154680"/>
            <a:ext cx="960120" cy="960120"/>
          </a:xfrm>
          <a:prstGeom prst="roundRect">
            <a:avLst>
              <a:gd name="adj" fmla="val 9524"/>
            </a:avLst>
          </a:prstGeom>
          <a:solidFill>
            <a:schemeClr val="bg2">
              <a:alpha val="80000"/>
            </a:schemeClr>
          </a:solidFill>
          <a:ln w="12700">
            <a:solidFill>
              <a:schemeClr val="accent6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372600" y="315468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dirty="0">
                <a:solidFill>
                  <a:schemeClr val="accent2"/>
                </a:solidFill>
              </a:rPr>
              <a:t>♦</a:t>
            </a:r>
            <a:endParaRPr lang="en-US" sz="3400" dirty="0"/>
          </a:p>
        </p:txBody>
      </p:sp>
      <p:sp>
        <p:nvSpPr>
          <p:cNvPr id="12" name="suit tile 3"/>
          <p:cNvSpPr/>
          <p:nvPr/>
        </p:nvSpPr>
        <p:spPr>
          <a:xfrm>
            <a:off x="10515600" y="3154680"/>
            <a:ext cx="960120" cy="960120"/>
          </a:xfrm>
          <a:prstGeom prst="roundRect">
            <a:avLst>
              <a:gd name="adj" fmla="val 9524"/>
            </a:avLst>
          </a:prstGeom>
          <a:solidFill>
            <a:schemeClr val="bg2">
              <a:alpha val="80000"/>
            </a:schemeClr>
          </a:solidFill>
          <a:ln w="12700">
            <a:solidFill>
              <a:schemeClr val="accent6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10515600" y="315468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dirty="0">
                <a:solidFill>
                  <a:schemeClr val="tx1"/>
                </a:solidFill>
              </a:rPr>
              <a:t>♣</a:t>
            </a:r>
            <a:endParaRPr lang="en-US" sz="3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548640" y="384048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01 / MOTIVATION</a:t>
            </a:r>
            <a:endParaRPr lang="en-US" sz="12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713232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tx1"/>
                </a:solidFill>
              </a:rPr>
              <a:t>Why Belote?</a:t>
            </a:r>
            <a:endParaRPr lang="en-US" sz="3400" dirty="0"/>
          </a:p>
        </p:txBody>
      </p:sp>
      <p:sp>
        <p:nvSpPr>
          <p:cNvPr id="4" name="why card 0"/>
          <p:cNvSpPr/>
          <p:nvPr/>
        </p:nvSpPr>
        <p:spPr>
          <a:xfrm>
            <a:off x="548640" y="1783080"/>
            <a:ext cx="11064240" cy="1234440"/>
          </a:xfrm>
          <a:prstGeom prst="roundRect">
            <a:avLst>
              <a:gd name="adj" fmla="val 5926"/>
            </a:avLst>
          </a:prstGeom>
          <a:solidFill>
            <a:schemeClr val="bg2"/>
          </a:solidFill>
          <a:ln w="9525">
            <a:solidFill>
              <a:schemeClr val="accent6"/>
            </a:solidFill>
            <a:prstDash val="solid"/>
          </a:ln>
        </p:spPr>
      </p:sp>
      <p:sp>
        <p:nvSpPr>
          <p:cNvPr id="5" name="why icon bg 0"/>
          <p:cNvSpPr/>
          <p:nvPr/>
        </p:nvSpPr>
        <p:spPr>
          <a:xfrm>
            <a:off x="822960" y="2075688"/>
            <a:ext cx="658368" cy="658368"/>
          </a:xfrm>
          <a:prstGeom prst="ellipse">
            <a:avLst/>
          </a:prstGeom>
          <a:solidFill>
            <a:schemeClr val="bg1"/>
          </a:solidFill>
          <a:ln w="12700">
            <a:solidFill>
              <a:schemeClr val="accent6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69264" y="2221992"/>
            <a:ext cx="365760" cy="365760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783080" y="1984248"/>
            <a:ext cx="9509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chemeClr val="tx1"/>
                </a:solidFill>
              </a:rPr>
              <a:t>A popular strategic game</a:t>
            </a:r>
            <a:endParaRPr lang="en-US" sz="1900" dirty="0"/>
          </a:p>
        </p:txBody>
      </p:sp>
      <p:sp>
        <p:nvSpPr>
          <p:cNvPr id="8" name="Text 5"/>
          <p:cNvSpPr txBox="1"/>
          <p:nvPr/>
        </p:nvSpPr>
        <p:spPr>
          <a:xfrm>
            <a:off x="1783080" y="2377440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2"/>
                </a:solidFill>
              </a:rPr>
              <a:t>One of the most played card games in France, with a Belote tournament held every year at the Technion.</a:t>
            </a:r>
            <a:endParaRPr lang="en-US" sz="1500" dirty="0"/>
          </a:p>
        </p:txBody>
      </p:sp>
      <p:sp>
        <p:nvSpPr>
          <p:cNvPr id="9" name="why card 1"/>
          <p:cNvSpPr/>
          <p:nvPr/>
        </p:nvSpPr>
        <p:spPr>
          <a:xfrm>
            <a:off x="548640" y="3246120"/>
            <a:ext cx="11064240" cy="1234440"/>
          </a:xfrm>
          <a:prstGeom prst="roundRect">
            <a:avLst>
              <a:gd name="adj" fmla="val 5926"/>
            </a:avLst>
          </a:prstGeom>
          <a:solidFill>
            <a:schemeClr val="bg2"/>
          </a:solidFill>
          <a:ln w="9525">
            <a:solidFill>
              <a:schemeClr val="accent6"/>
            </a:solidFill>
            <a:prstDash val="solid"/>
          </a:ln>
        </p:spPr>
      </p:sp>
      <p:sp>
        <p:nvSpPr>
          <p:cNvPr id="10" name="why icon bg 1"/>
          <p:cNvSpPr/>
          <p:nvPr/>
        </p:nvSpPr>
        <p:spPr>
          <a:xfrm>
            <a:off x="822960" y="3538728"/>
            <a:ext cx="658368" cy="658368"/>
          </a:xfrm>
          <a:prstGeom prst="ellipse">
            <a:avLst/>
          </a:prstGeom>
          <a:solidFill>
            <a:schemeClr val="bg1"/>
          </a:solidFill>
          <a:ln w="12700">
            <a:solidFill>
              <a:schemeClr val="accent6"/>
            </a:solidFill>
            <a:prstDash val="solid"/>
          </a:ln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9264" y="3685032"/>
            <a:ext cx="365760" cy="365760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1783080" y="3447288"/>
            <a:ext cx="9509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chemeClr val="tx1"/>
                </a:solidFill>
              </a:rPr>
              <a:t>A real AI challenge</a:t>
            </a:r>
            <a:endParaRPr lang="en-US" sz="1900" dirty="0"/>
          </a:p>
        </p:txBody>
      </p:sp>
      <p:sp>
        <p:nvSpPr>
          <p:cNvPr id="13" name="Text 9"/>
          <p:cNvSpPr txBox="1"/>
          <p:nvPr/>
        </p:nvSpPr>
        <p:spPr>
          <a:xfrm>
            <a:off x="1783080" y="3840480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2"/>
                </a:solidFill>
              </a:rPr>
              <a:t>Imperfect information: the opponent's hand is hidden, so every decision is a bet on what they hold and on how the trick will unfold.</a:t>
            </a:r>
            <a:endParaRPr lang="en-US" sz="1500" dirty="0"/>
          </a:p>
        </p:txBody>
      </p:sp>
      <p:sp>
        <p:nvSpPr>
          <p:cNvPr id="14" name="why card 2"/>
          <p:cNvSpPr/>
          <p:nvPr/>
        </p:nvSpPr>
        <p:spPr>
          <a:xfrm>
            <a:off x="548640" y="4709160"/>
            <a:ext cx="11064240" cy="1234440"/>
          </a:xfrm>
          <a:prstGeom prst="roundRect">
            <a:avLst>
              <a:gd name="adj" fmla="val 5926"/>
            </a:avLst>
          </a:prstGeom>
          <a:solidFill>
            <a:schemeClr val="bg2"/>
          </a:solidFill>
          <a:ln w="9525">
            <a:solidFill>
              <a:schemeClr val="accent6"/>
            </a:solidFill>
            <a:prstDash val="solid"/>
          </a:ln>
        </p:spPr>
      </p:sp>
      <p:sp>
        <p:nvSpPr>
          <p:cNvPr id="15" name="why icon bg 2"/>
          <p:cNvSpPr/>
          <p:nvPr/>
        </p:nvSpPr>
        <p:spPr>
          <a:xfrm>
            <a:off x="822960" y="5001768"/>
            <a:ext cx="658368" cy="658368"/>
          </a:xfrm>
          <a:prstGeom prst="ellipse">
            <a:avLst/>
          </a:prstGeom>
          <a:solidFill>
            <a:schemeClr val="bg1"/>
          </a:solidFill>
          <a:ln w="12700">
            <a:solidFill>
              <a:schemeClr val="accent6"/>
            </a:solidFill>
            <a:prstDash val="solid"/>
          </a:ln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9264" y="5148072"/>
            <a:ext cx="365760" cy="365760"/>
          </a:xfrm>
          <a:prstGeom prst="rect">
            <a:avLst/>
          </a:prstGeom>
        </p:spPr>
      </p:pic>
      <p:sp>
        <p:nvSpPr>
          <p:cNvPr id="17" name="Text 12"/>
          <p:cNvSpPr txBox="1"/>
          <p:nvPr/>
        </p:nvSpPr>
        <p:spPr>
          <a:xfrm>
            <a:off x="1783080" y="4910328"/>
            <a:ext cx="9509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chemeClr val="tx1"/>
                </a:solidFill>
              </a:rPr>
              <a:t>Our motivation</a:t>
            </a:r>
            <a:endParaRPr lang="en-US" sz="1900" dirty="0"/>
          </a:p>
        </p:txBody>
      </p:sp>
      <p:sp>
        <p:nvSpPr>
          <p:cNvPr id="18" name="Text 13"/>
          <p:cNvSpPr txBox="1"/>
          <p:nvPr/>
        </p:nvSpPr>
        <p:spPr>
          <a:xfrm>
            <a:off x="1783080" y="5303520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2"/>
                </a:solidFill>
              </a:rPr>
              <a:t>As long-time players, we wanted to see whether an RL agent can rediscover human conventions — or beat them — purely through self-play.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09960" y="638251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tx2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548640" y="384048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02 / THE GAME</a:t>
            </a:r>
            <a:endParaRPr lang="en-US" sz="12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713232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tx1"/>
                </a:solidFill>
              </a:rPr>
              <a:t>Our two-player Belote variant</a:t>
            </a:r>
            <a:endParaRPr lang="en-US" sz="3400" dirty="0"/>
          </a:p>
        </p:txBody>
      </p:sp>
      <p:sp>
        <p:nvSpPr>
          <p:cNvPr id="4" name="rules card"/>
          <p:cNvSpPr/>
          <p:nvPr/>
        </p:nvSpPr>
        <p:spPr>
          <a:xfrm>
            <a:off x="548640" y="1783080"/>
            <a:ext cx="5394960" cy="4343400"/>
          </a:xfrm>
          <a:prstGeom prst="roundRect">
            <a:avLst>
              <a:gd name="adj" fmla="val 1684"/>
            </a:avLst>
          </a:prstGeom>
          <a:solidFill>
            <a:schemeClr val="bg2"/>
          </a:solidFill>
          <a:ln w="9525">
            <a:solidFill>
              <a:schemeClr val="accent6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22960" y="20116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RULES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2377440"/>
            <a:ext cx="493776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32-card deck, 8 cards per player — 16 stay hidden all round</a:t>
            </a:r>
            <a:endParaRPr lang="en-US" sz="15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Trump suit drawn at random each round</a:t>
            </a:r>
            <a:endParaRPr lang="en-US" sz="15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Must follow suit; otherwise must trump; must over-trump when trump is led</a:t>
            </a:r>
            <a:endParaRPr lang="en-US" sz="15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Highest card wins the trick (trump beats every other suit)</a:t>
            </a:r>
            <a:endParaRPr lang="en-US" sz="15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+10 for the last trick (dix de der), +20 for King + Queen of trump (belote-rebelote)</a:t>
            </a:r>
            <a:endParaRPr lang="en-US" sz="1500" dirty="0"/>
          </a:p>
        </p:txBody>
      </p:sp>
      <p:sp>
        <p:nvSpPr>
          <p:cNvPr id="7" name="points card"/>
          <p:cNvSpPr/>
          <p:nvPr/>
        </p:nvSpPr>
        <p:spPr>
          <a:xfrm>
            <a:off x="6217920" y="1783080"/>
            <a:ext cx="5394960" cy="4343400"/>
          </a:xfrm>
          <a:prstGeom prst="roundRect">
            <a:avLst>
              <a:gd name="adj" fmla="val 1684"/>
            </a:avLst>
          </a:prstGeom>
          <a:solidFill>
            <a:schemeClr val="bg2"/>
          </a:solidFill>
          <a:ln w="9525">
            <a:solidFill>
              <a:schemeClr val="accent6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492240" y="20116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chemeClr val="tx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NON-TRUMP</a:t>
            </a:r>
            <a:endParaRPr lang="en-US" sz="1100" dirty="0"/>
          </a:p>
        </p:txBody>
      </p:sp>
      <p:pic>
        <p:nvPicPr>
          <p:cNvPr id="9" name="NON-TRUMP cards photo" descr="cards_nontrump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92240" y="2331720"/>
            <a:ext cx="4846320" cy="1118842"/>
          </a:xfrm>
          <a:prstGeom prst="rect">
            <a:avLst/>
          </a:prstGeom>
        </p:spPr>
      </p:pic>
      <p:sp>
        <p:nvSpPr>
          <p:cNvPr id="10" name="Text 7"/>
          <p:cNvSpPr txBox="1"/>
          <p:nvPr/>
        </p:nvSpPr>
        <p:spPr>
          <a:xfrm>
            <a:off x="6575213" y="3496282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11 pts</a:t>
            </a:r>
            <a:endParaRPr lang="en-US" sz="1200" dirty="0"/>
          </a:p>
        </p:txBody>
      </p:sp>
      <p:sp>
        <p:nvSpPr>
          <p:cNvPr id="11" name="Text 8"/>
          <p:cNvSpPr txBox="1"/>
          <p:nvPr/>
        </p:nvSpPr>
        <p:spPr>
          <a:xfrm>
            <a:off x="7263271" y="3496282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 pts</a:t>
            </a:r>
            <a:endParaRPr lang="en-US" sz="1200" dirty="0"/>
          </a:p>
        </p:txBody>
      </p:sp>
      <p:sp>
        <p:nvSpPr>
          <p:cNvPr id="12" name="Text 9"/>
          <p:cNvSpPr txBox="1"/>
          <p:nvPr/>
        </p:nvSpPr>
        <p:spPr>
          <a:xfrm>
            <a:off x="7933380" y="3496282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 pts</a:t>
            </a:r>
            <a:endParaRPr lang="en-US" sz="1200" dirty="0"/>
          </a:p>
        </p:txBody>
      </p:sp>
      <p:sp>
        <p:nvSpPr>
          <p:cNvPr id="13" name="Text 10"/>
          <p:cNvSpPr txBox="1"/>
          <p:nvPr/>
        </p:nvSpPr>
        <p:spPr>
          <a:xfrm>
            <a:off x="8597505" y="3496282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 pts</a:t>
            </a:r>
            <a:endParaRPr lang="en-US" sz="1200" dirty="0"/>
          </a:p>
        </p:txBody>
      </p:sp>
      <p:sp>
        <p:nvSpPr>
          <p:cNvPr id="14" name="Text 11"/>
          <p:cNvSpPr txBox="1"/>
          <p:nvPr/>
        </p:nvSpPr>
        <p:spPr>
          <a:xfrm>
            <a:off x="9297529" y="3496282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 pts</a:t>
            </a:r>
            <a:endParaRPr lang="en-US" sz="1200" dirty="0"/>
          </a:p>
        </p:txBody>
      </p:sp>
      <p:sp>
        <p:nvSpPr>
          <p:cNvPr id="15" name="Text 12"/>
          <p:cNvSpPr txBox="1"/>
          <p:nvPr/>
        </p:nvSpPr>
        <p:spPr>
          <a:xfrm>
            <a:off x="10254827" y="3496282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 pts</a:t>
            </a:r>
            <a:endParaRPr lang="en-US" sz="1200" dirty="0"/>
          </a:p>
        </p:txBody>
      </p:sp>
      <p:sp>
        <p:nvSpPr>
          <p:cNvPr id="16" name="Text 13"/>
          <p:cNvSpPr txBox="1"/>
          <p:nvPr/>
        </p:nvSpPr>
        <p:spPr>
          <a:xfrm>
            <a:off x="6492240" y="393192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TRUMP</a:t>
            </a:r>
            <a:endParaRPr lang="en-US" sz="1100" dirty="0"/>
          </a:p>
        </p:txBody>
      </p:sp>
      <p:pic>
        <p:nvPicPr>
          <p:cNvPr id="17" name="TRUMP cards photo" descr="cards_trump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92240" y="4251960"/>
            <a:ext cx="4846320" cy="1078458"/>
          </a:xfrm>
          <a:prstGeom prst="rect">
            <a:avLst/>
          </a:prstGeom>
        </p:spPr>
      </p:pic>
      <p:sp>
        <p:nvSpPr>
          <p:cNvPr id="18" name="Text 14"/>
          <p:cNvSpPr txBox="1"/>
          <p:nvPr/>
        </p:nvSpPr>
        <p:spPr>
          <a:xfrm>
            <a:off x="6530902" y="5376138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20 pts</a:t>
            </a:r>
            <a:endParaRPr lang="en-US" sz="1200" dirty="0"/>
          </a:p>
        </p:txBody>
      </p:sp>
      <p:sp>
        <p:nvSpPr>
          <p:cNvPr id="19" name="Text 15"/>
          <p:cNvSpPr txBox="1"/>
          <p:nvPr/>
        </p:nvSpPr>
        <p:spPr>
          <a:xfrm>
            <a:off x="7191457" y="5376138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14 pts</a:t>
            </a:r>
            <a:endParaRPr lang="en-US" sz="1200" dirty="0"/>
          </a:p>
        </p:txBody>
      </p:sp>
      <p:sp>
        <p:nvSpPr>
          <p:cNvPr id="20" name="Text 16"/>
          <p:cNvSpPr txBox="1"/>
          <p:nvPr/>
        </p:nvSpPr>
        <p:spPr>
          <a:xfrm>
            <a:off x="7845272" y="5376138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11 pts</a:t>
            </a:r>
            <a:endParaRPr lang="en-US" sz="1200" dirty="0"/>
          </a:p>
        </p:txBody>
      </p:sp>
      <p:sp>
        <p:nvSpPr>
          <p:cNvPr id="21" name="Text 17"/>
          <p:cNvSpPr txBox="1"/>
          <p:nvPr/>
        </p:nvSpPr>
        <p:spPr>
          <a:xfrm>
            <a:off x="8505828" y="5376138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 pts</a:t>
            </a:r>
            <a:endParaRPr lang="en-US" sz="1200" dirty="0"/>
          </a:p>
        </p:txBody>
      </p:sp>
      <p:sp>
        <p:nvSpPr>
          <p:cNvPr id="22" name="Text 18"/>
          <p:cNvSpPr txBox="1"/>
          <p:nvPr/>
        </p:nvSpPr>
        <p:spPr>
          <a:xfrm>
            <a:off x="9146162" y="5376138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 pts</a:t>
            </a:r>
            <a:endParaRPr lang="en-US" sz="1200" dirty="0"/>
          </a:p>
        </p:txBody>
      </p:sp>
      <p:sp>
        <p:nvSpPr>
          <p:cNvPr id="23" name="Text 19"/>
          <p:cNvSpPr txBox="1"/>
          <p:nvPr/>
        </p:nvSpPr>
        <p:spPr>
          <a:xfrm>
            <a:off x="9799977" y="5376138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 pts</a:t>
            </a:r>
            <a:endParaRPr lang="en-US" sz="1200" dirty="0"/>
          </a:p>
        </p:txBody>
      </p:sp>
      <p:sp>
        <p:nvSpPr>
          <p:cNvPr id="24" name="Text 20"/>
          <p:cNvSpPr txBox="1"/>
          <p:nvPr/>
        </p:nvSpPr>
        <p:spPr>
          <a:xfrm>
            <a:off x="10507715" y="5376138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 pts</a:t>
            </a:r>
            <a:endParaRPr lang="en-US" sz="1200" dirty="0"/>
          </a:p>
        </p:txBody>
      </p:sp>
      <p:sp>
        <p:nvSpPr>
          <p:cNvPr id="25" name="Text 21"/>
          <p:cNvSpPr txBox="1"/>
          <p:nvPr/>
        </p:nvSpPr>
        <p:spPr>
          <a:xfrm>
            <a:off x="6492240" y="5715000"/>
            <a:ext cx="4846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i="1" dirty="0">
                <a:solidFill>
                  <a:schemeClr val="tx2"/>
                </a:solidFill>
              </a:rPr>
              <a:t>In trump, the Jack and the Nine jump to the top.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09960" y="638251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tx2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548640" y="384048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03 / SCOPE</a:t>
            </a:r>
            <a:endParaRPr lang="en-US" sz="12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713232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tx1"/>
                </a:solidFill>
              </a:rPr>
              <a:t>From four-player Coinche to two-player Belote</a:t>
            </a:r>
            <a:endParaRPr lang="en-US" sz="3400" dirty="0"/>
          </a:p>
        </p:txBody>
      </p:sp>
      <p:sp>
        <p:nvSpPr>
          <p:cNvPr id="4" name="scope card 0"/>
          <p:cNvSpPr/>
          <p:nvPr/>
        </p:nvSpPr>
        <p:spPr>
          <a:xfrm>
            <a:off x="548640" y="1828800"/>
            <a:ext cx="3474720" cy="4023360"/>
          </a:xfrm>
          <a:prstGeom prst="roundRect">
            <a:avLst>
              <a:gd name="adj" fmla="val 2105"/>
            </a:avLst>
          </a:prstGeom>
          <a:solidFill>
            <a:schemeClr val="bg2"/>
          </a:solidFill>
          <a:ln w="9525">
            <a:solidFill>
              <a:schemeClr val="accent6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22960" y="210312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chemeClr val="tx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INITIAL IDEA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2468880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b="1" dirty="0">
                <a:solidFill>
                  <a:schemeClr val="tx1"/>
                </a:solidFill>
              </a:rPr>
              <a:t>Four-player Coinche</a:t>
            </a:r>
            <a:endParaRPr lang="en-US" sz="2100" dirty="0"/>
          </a:p>
        </p:txBody>
      </p:sp>
      <p:sp>
        <p:nvSpPr>
          <p:cNvPr id="7" name="Text 5"/>
          <p:cNvSpPr txBox="1"/>
          <p:nvPr/>
        </p:nvSpPr>
        <p:spPr>
          <a:xfrm>
            <a:off x="822960" y="3154680"/>
            <a:ext cx="301752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Two teams of two</a:t>
            </a:r>
            <a:endParaRPr lang="en-US" sz="15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Bidding &amp; contracts</a:t>
            </a:r>
            <a:endParaRPr lang="en-US" sz="15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Full original rules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4023360" y="3566160"/>
            <a:ext cx="320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chemeClr val="tx2"/>
                </a:solidFill>
              </a:rPr>
              <a:t>→</a:t>
            </a:r>
            <a:endParaRPr lang="en-US" sz="2200" dirty="0"/>
          </a:p>
        </p:txBody>
      </p:sp>
      <p:sp>
        <p:nvSpPr>
          <p:cNvPr id="9" name="scope card 1"/>
          <p:cNvSpPr/>
          <p:nvPr/>
        </p:nvSpPr>
        <p:spPr>
          <a:xfrm>
            <a:off x="4343400" y="1828800"/>
            <a:ext cx="3474720" cy="4023360"/>
          </a:xfrm>
          <a:prstGeom prst="roundRect">
            <a:avLst>
              <a:gd name="adj" fmla="val 2105"/>
            </a:avLst>
          </a:prstGeom>
          <a:solidFill>
            <a:schemeClr val="bg2"/>
          </a:solidFill>
          <a:ln w="9525">
            <a:solidFill>
              <a:schemeClr val="accent6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617720" y="210312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chemeClr val="accent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THE PROBLEM</a:t>
            </a:r>
            <a:endParaRPr lang="en-US" sz="1100" dirty="0"/>
          </a:p>
        </p:txBody>
      </p:sp>
      <p:sp>
        <p:nvSpPr>
          <p:cNvPr id="11" name="Text 9"/>
          <p:cNvSpPr txBox="1"/>
          <p:nvPr/>
        </p:nvSpPr>
        <p:spPr>
          <a:xfrm>
            <a:off x="4617720" y="2468880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b="1" dirty="0">
                <a:solidFill>
                  <a:schemeClr val="tx1"/>
                </a:solidFill>
              </a:rPr>
              <a:t>Too noisy for PPO</a:t>
            </a:r>
            <a:endParaRPr lang="en-US" sz="2100" dirty="0"/>
          </a:p>
        </p:txBody>
      </p:sp>
      <p:sp>
        <p:nvSpPr>
          <p:cNvPr id="12" name="Text 10"/>
          <p:cNvSpPr txBox="1"/>
          <p:nvPr/>
        </p:nvSpPr>
        <p:spPr>
          <a:xfrm>
            <a:off x="4617720" y="3154680"/>
            <a:ext cx="301752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3 hidden hands + a partner</a:t>
            </a:r>
            <a:endParaRPr lang="en-US" sz="15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Reward shared by the team</a:t>
            </a:r>
            <a:endParaRPr lang="en-US" sz="15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Bidding adds huge variance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7818120" y="3566160"/>
            <a:ext cx="320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chemeClr val="tx2"/>
                </a:solidFill>
              </a:rPr>
              <a:t>→</a:t>
            </a:r>
            <a:endParaRPr lang="en-US" sz="2200" dirty="0"/>
          </a:p>
        </p:txBody>
      </p:sp>
      <p:sp>
        <p:nvSpPr>
          <p:cNvPr id="14" name="scope card 2"/>
          <p:cNvSpPr/>
          <p:nvPr/>
        </p:nvSpPr>
        <p:spPr>
          <a:xfrm>
            <a:off x="8138160" y="1828800"/>
            <a:ext cx="3474720" cy="4023360"/>
          </a:xfrm>
          <a:prstGeom prst="roundRect">
            <a:avLst>
              <a:gd name="adj" fmla="val 2105"/>
            </a:avLst>
          </a:prstGeom>
          <a:solidFill>
            <a:schemeClr val="bg2"/>
          </a:solidFill>
          <a:ln w="9525">
            <a:solidFill>
              <a:schemeClr val="accent6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8412480" y="210312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OUR CHOICE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8412480" y="2468880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b="1" dirty="0">
                <a:solidFill>
                  <a:schemeClr val="tx1"/>
                </a:solidFill>
              </a:rPr>
              <a:t>Two-player Belote</a:t>
            </a:r>
            <a:endParaRPr lang="en-US" sz="2100" dirty="0"/>
          </a:p>
        </p:txBody>
      </p:sp>
      <p:sp>
        <p:nvSpPr>
          <p:cNvPr id="17" name="Text 15"/>
          <p:cNvSpPr txBox="1"/>
          <p:nvPr/>
        </p:nvSpPr>
        <p:spPr>
          <a:xfrm>
            <a:off x="8412480" y="3154680"/>
            <a:ext cx="301752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One opponent, zero-sum</a:t>
            </a:r>
            <a:endParaRPr lang="en-US" sz="15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Keeps trumps, cutting, hidden info</a:t>
            </a:r>
            <a:endParaRPr lang="en-US" sz="15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Single shared network in self-play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09960" y="638251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tx2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548640" y="384048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04 / PIPELINE</a:t>
            </a:r>
            <a:endParaRPr lang="en-US" sz="12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713232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tx1"/>
                </a:solidFill>
              </a:rPr>
              <a:t>Development pipeline</a:t>
            </a:r>
            <a:endParaRPr lang="en-US" sz="3400" dirty="0"/>
          </a:p>
        </p:txBody>
      </p:sp>
      <p:sp>
        <p:nvSpPr>
          <p:cNvPr id="4" name="pipeline step 0"/>
          <p:cNvSpPr/>
          <p:nvPr/>
        </p:nvSpPr>
        <p:spPr>
          <a:xfrm>
            <a:off x="548640" y="2011680"/>
            <a:ext cx="1463040" cy="2011680"/>
          </a:xfrm>
          <a:prstGeom prst="roundRect">
            <a:avLst>
              <a:gd name="adj" fmla="val 5000"/>
            </a:avLst>
          </a:prstGeom>
          <a:solidFill>
            <a:schemeClr val="bg2"/>
          </a:solidFill>
          <a:ln w="9525">
            <a:solidFill>
              <a:schemeClr val="accent6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13232" y="2176272"/>
            <a:ext cx="914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01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713232" y="2651760"/>
            <a:ext cx="1188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Rule engine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713232" y="3200400"/>
            <a:ext cx="1188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Legal moves, scoring</a:t>
            </a:r>
            <a:endParaRPr lang="en-US" sz="1200" dirty="0"/>
          </a:p>
        </p:txBody>
      </p:sp>
      <p:sp>
        <p:nvSpPr>
          <p:cNvPr id="8" name="pipeline step 1"/>
          <p:cNvSpPr/>
          <p:nvPr/>
        </p:nvSpPr>
        <p:spPr>
          <a:xfrm>
            <a:off x="2148840" y="2011680"/>
            <a:ext cx="1463040" cy="2011680"/>
          </a:xfrm>
          <a:prstGeom prst="roundRect">
            <a:avLst>
              <a:gd name="adj" fmla="val 5000"/>
            </a:avLst>
          </a:prstGeom>
          <a:solidFill>
            <a:schemeClr val="bg2"/>
          </a:solidFill>
          <a:ln w="9525">
            <a:solidFill>
              <a:schemeClr val="accent6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2313432" y="2176272"/>
            <a:ext cx="914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02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2313432" y="2651760"/>
            <a:ext cx="1188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Gym env</a:t>
            </a:r>
            <a:endParaRPr lang="en-US" sz="1500" dirty="0"/>
          </a:p>
        </p:txBody>
      </p:sp>
      <p:sp>
        <p:nvSpPr>
          <p:cNvPr id="11" name="Text 9"/>
          <p:cNvSpPr txBox="1"/>
          <p:nvPr/>
        </p:nvSpPr>
        <p:spPr>
          <a:xfrm>
            <a:off x="2313432" y="3200400"/>
            <a:ext cx="1188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598-dim obs, action mask</a:t>
            </a:r>
            <a:endParaRPr lang="en-US" sz="1200" dirty="0"/>
          </a:p>
        </p:txBody>
      </p:sp>
      <p:sp>
        <p:nvSpPr>
          <p:cNvPr id="12" name="pipeline step 2"/>
          <p:cNvSpPr/>
          <p:nvPr/>
        </p:nvSpPr>
        <p:spPr>
          <a:xfrm>
            <a:off x="3749040" y="2011680"/>
            <a:ext cx="1463040" cy="2011680"/>
          </a:xfrm>
          <a:prstGeom prst="roundRect">
            <a:avLst>
              <a:gd name="adj" fmla="val 5000"/>
            </a:avLst>
          </a:prstGeom>
          <a:solidFill>
            <a:schemeClr val="bg2"/>
          </a:solidFill>
          <a:ln w="9525">
            <a:solidFill>
              <a:schemeClr val="accent6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3913632" y="2176272"/>
            <a:ext cx="914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03</a:t>
            </a:r>
            <a:endParaRPr lang="en-US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3913632" y="2651760"/>
            <a:ext cx="1188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Baselines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3913632" y="3200400"/>
            <a:ext cx="1188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4 reference agents</a:t>
            </a:r>
            <a:endParaRPr lang="en-US" sz="1200" dirty="0"/>
          </a:p>
        </p:txBody>
      </p:sp>
      <p:sp>
        <p:nvSpPr>
          <p:cNvPr id="16" name="pipeline step 3"/>
          <p:cNvSpPr/>
          <p:nvPr/>
        </p:nvSpPr>
        <p:spPr>
          <a:xfrm>
            <a:off x="5349240" y="2011680"/>
            <a:ext cx="1463040" cy="2011680"/>
          </a:xfrm>
          <a:prstGeom prst="roundRect">
            <a:avLst>
              <a:gd name="adj" fmla="val 5000"/>
            </a:avLst>
          </a:prstGeom>
          <a:solidFill>
            <a:schemeClr val="bg2"/>
          </a:solidFill>
          <a:ln w="9525">
            <a:solidFill>
              <a:schemeClr val="accent6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5513832" y="2176272"/>
            <a:ext cx="914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04</a:t>
            </a:r>
            <a:endParaRPr lang="en-US" sz="1600" dirty="0"/>
          </a:p>
        </p:txBody>
      </p:sp>
      <p:sp>
        <p:nvSpPr>
          <p:cNvPr id="18" name="Text 16"/>
          <p:cNvSpPr txBox="1"/>
          <p:nvPr/>
        </p:nvSpPr>
        <p:spPr>
          <a:xfrm>
            <a:off x="5513832" y="2651760"/>
            <a:ext cx="1188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Actor-critic</a:t>
            </a:r>
            <a:endParaRPr lang="en-US" sz="1500" dirty="0"/>
          </a:p>
        </p:txBody>
      </p:sp>
      <p:sp>
        <p:nvSpPr>
          <p:cNvPr id="19" name="Text 17"/>
          <p:cNvSpPr txBox="1"/>
          <p:nvPr/>
        </p:nvSpPr>
        <p:spPr>
          <a:xfrm>
            <a:off x="5513832" y="3200400"/>
            <a:ext cx="1188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Shared policy + value</a:t>
            </a:r>
            <a:endParaRPr lang="en-US" sz="1200" dirty="0"/>
          </a:p>
        </p:txBody>
      </p:sp>
      <p:sp>
        <p:nvSpPr>
          <p:cNvPr id="20" name="pipeline step 4"/>
          <p:cNvSpPr/>
          <p:nvPr/>
        </p:nvSpPr>
        <p:spPr>
          <a:xfrm>
            <a:off x="6949440" y="2011680"/>
            <a:ext cx="1463040" cy="2011680"/>
          </a:xfrm>
          <a:prstGeom prst="roundRect">
            <a:avLst>
              <a:gd name="adj" fmla="val 5000"/>
            </a:avLst>
          </a:prstGeom>
          <a:solidFill>
            <a:schemeClr val="bg2"/>
          </a:solidFill>
          <a:ln w="9525">
            <a:solidFill>
              <a:schemeClr val="accent6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7114032" y="2176272"/>
            <a:ext cx="914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05</a:t>
            </a:r>
            <a:endParaRPr lang="en-US" sz="1600" dirty="0"/>
          </a:p>
        </p:txBody>
      </p:sp>
      <p:sp>
        <p:nvSpPr>
          <p:cNvPr id="22" name="Text 20"/>
          <p:cNvSpPr txBox="1"/>
          <p:nvPr/>
        </p:nvSpPr>
        <p:spPr>
          <a:xfrm>
            <a:off x="7114032" y="2651760"/>
            <a:ext cx="1188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Self-play + GAE</a:t>
            </a:r>
            <a:endParaRPr lang="en-US" sz="1500" dirty="0"/>
          </a:p>
        </p:txBody>
      </p:sp>
      <p:sp>
        <p:nvSpPr>
          <p:cNvPr id="23" name="Text 21"/>
          <p:cNvSpPr txBox="1"/>
          <p:nvPr/>
        </p:nvSpPr>
        <p:spPr>
          <a:xfrm>
            <a:off x="7114032" y="3200400"/>
            <a:ext cx="1188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Experience &amp; advantages</a:t>
            </a:r>
            <a:endParaRPr lang="en-US" sz="1200" dirty="0"/>
          </a:p>
        </p:txBody>
      </p:sp>
      <p:sp>
        <p:nvSpPr>
          <p:cNvPr id="24" name="pipeline step 5"/>
          <p:cNvSpPr/>
          <p:nvPr/>
        </p:nvSpPr>
        <p:spPr>
          <a:xfrm>
            <a:off x="8549640" y="2011680"/>
            <a:ext cx="1463040" cy="2011680"/>
          </a:xfrm>
          <a:prstGeom prst="roundRect">
            <a:avLst>
              <a:gd name="adj" fmla="val 5000"/>
            </a:avLst>
          </a:prstGeom>
          <a:solidFill>
            <a:schemeClr val="bg2"/>
          </a:solidFill>
          <a:ln w="9525">
            <a:solidFill>
              <a:schemeClr val="accent6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8714232" y="2176272"/>
            <a:ext cx="914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06</a:t>
            </a:r>
            <a:endParaRPr lang="en-US" sz="1600" dirty="0"/>
          </a:p>
        </p:txBody>
      </p:sp>
      <p:sp>
        <p:nvSpPr>
          <p:cNvPr id="26" name="Text 24"/>
          <p:cNvSpPr txBox="1"/>
          <p:nvPr/>
        </p:nvSpPr>
        <p:spPr>
          <a:xfrm>
            <a:off x="8714232" y="2651760"/>
            <a:ext cx="1188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PPO update</a:t>
            </a:r>
            <a:endParaRPr lang="en-US" sz="1500" dirty="0"/>
          </a:p>
        </p:txBody>
      </p:sp>
      <p:sp>
        <p:nvSpPr>
          <p:cNvPr id="27" name="Text 25"/>
          <p:cNvSpPr txBox="1"/>
          <p:nvPr/>
        </p:nvSpPr>
        <p:spPr>
          <a:xfrm>
            <a:off x="8714232" y="3200400"/>
            <a:ext cx="1188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Clipped objective</a:t>
            </a:r>
            <a:endParaRPr lang="en-US" sz="1200" dirty="0"/>
          </a:p>
        </p:txBody>
      </p:sp>
      <p:sp>
        <p:nvSpPr>
          <p:cNvPr id="28" name="pipeline step 6"/>
          <p:cNvSpPr/>
          <p:nvPr/>
        </p:nvSpPr>
        <p:spPr>
          <a:xfrm>
            <a:off x="10149840" y="2011680"/>
            <a:ext cx="1463040" cy="2011680"/>
          </a:xfrm>
          <a:prstGeom prst="roundRect">
            <a:avLst>
              <a:gd name="adj" fmla="val 5000"/>
            </a:avLst>
          </a:prstGeom>
          <a:solidFill>
            <a:schemeClr val="bg2"/>
          </a:solidFill>
          <a:ln w="9525">
            <a:solidFill>
              <a:schemeClr val="accent6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10314432" y="2176272"/>
            <a:ext cx="914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07</a:t>
            </a:r>
            <a:endParaRPr lang="en-US" sz="1600" dirty="0"/>
          </a:p>
        </p:txBody>
      </p:sp>
      <p:sp>
        <p:nvSpPr>
          <p:cNvPr id="30" name="Text 28"/>
          <p:cNvSpPr txBox="1"/>
          <p:nvPr/>
        </p:nvSpPr>
        <p:spPr>
          <a:xfrm>
            <a:off x="10314432" y="2651760"/>
            <a:ext cx="1188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Evaluation</a:t>
            </a:r>
            <a:endParaRPr lang="en-US" sz="1500" dirty="0"/>
          </a:p>
        </p:txBody>
      </p:sp>
      <p:sp>
        <p:nvSpPr>
          <p:cNvPr id="31" name="Text 29"/>
          <p:cNvSpPr txBox="1"/>
          <p:nvPr/>
        </p:nvSpPr>
        <p:spPr>
          <a:xfrm>
            <a:off x="10314432" y="3200400"/>
            <a:ext cx="1188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Duplicate deals</a:t>
            </a:r>
            <a:endParaRPr lang="en-US" sz="1200" dirty="0"/>
          </a:p>
        </p:txBody>
      </p:sp>
      <p:sp>
        <p:nvSpPr>
          <p:cNvPr id="32" name="principle card"/>
          <p:cNvSpPr/>
          <p:nvPr/>
        </p:nvSpPr>
        <p:spPr>
          <a:xfrm>
            <a:off x="548640" y="4434840"/>
            <a:ext cx="11064240" cy="1463040"/>
          </a:xfrm>
          <a:prstGeom prst="roundRect">
            <a:avLst>
              <a:gd name="adj" fmla="val 5000"/>
            </a:avLst>
          </a:prstGeom>
          <a:solidFill>
            <a:schemeClr val="bg2"/>
          </a:solidFill>
          <a:ln w="9525">
            <a:solidFill>
              <a:schemeClr val="accent6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822960" y="4645152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KEY DESIGN PRINCIPLE</a:t>
            </a:r>
            <a:endParaRPr lang="en-US" sz="1100" dirty="0"/>
          </a:p>
        </p:txBody>
      </p:sp>
      <p:sp>
        <p:nvSpPr>
          <p:cNvPr id="34" name="Text 32"/>
          <p:cNvSpPr txBox="1"/>
          <p:nvPr/>
        </p:nvSpPr>
        <p:spPr>
          <a:xfrm>
            <a:off x="822960" y="498348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Every stage is validated by its own test suite (7 in total) before the next one is built on it. Two silent bugs still slipped through — found by code review and by analysing why the agent did not learn, then locked in by new tests.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09960" y="638251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tx2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548640" y="384048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05 / ENVIRONMENT</a:t>
            </a:r>
            <a:endParaRPr lang="en-US" sz="12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713232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tx1"/>
                </a:solidFill>
              </a:rPr>
              <a:t>The Belote environment</a:t>
            </a:r>
            <a:endParaRPr lang="en-US" sz="3400" dirty="0"/>
          </a:p>
        </p:txBody>
      </p:sp>
      <p:sp>
        <p:nvSpPr>
          <p:cNvPr id="4" name="env card 0"/>
          <p:cNvSpPr/>
          <p:nvPr/>
        </p:nvSpPr>
        <p:spPr>
          <a:xfrm>
            <a:off x="548640" y="1783080"/>
            <a:ext cx="3474720" cy="3063240"/>
          </a:xfrm>
          <a:prstGeom prst="roundRect">
            <a:avLst>
              <a:gd name="adj" fmla="val 2388"/>
            </a:avLst>
          </a:prstGeom>
          <a:solidFill>
            <a:schemeClr val="bg2"/>
          </a:solidFill>
          <a:ln w="9525">
            <a:solidFill>
              <a:schemeClr val="accent6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22960" y="20116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OBSERVATION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2359152"/>
            <a:ext cx="3017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chemeClr val="tx1"/>
                </a:solidFill>
              </a:rPr>
              <a:t>598-dim vector</a:t>
            </a:r>
            <a:endParaRPr lang="en-US" sz="1900" dirty="0"/>
          </a:p>
        </p:txBody>
      </p:sp>
      <p:sp>
        <p:nvSpPr>
          <p:cNvPr id="7" name="Text 5"/>
          <p:cNvSpPr txBox="1"/>
          <p:nvPr/>
        </p:nvSpPr>
        <p:spPr>
          <a:xfrm>
            <a:off x="822960" y="2880360"/>
            <a:ext cx="301752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My hand (32) + cards played (32)</a:t>
            </a:r>
            <a:endParaRPr lang="en-US" sz="15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Trump suit (4), both scores (2)</a:t>
            </a:r>
            <a:endParaRPr lang="en-US" sz="15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Who won each trick: me / opponent</a:t>
            </a:r>
            <a:endParaRPr lang="en-US" sz="15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Per-trick detail: my card, theirs, leader</a:t>
            </a:r>
            <a:endParaRPr lang="en-US" sz="1500" dirty="0"/>
          </a:p>
        </p:txBody>
      </p:sp>
      <p:sp>
        <p:nvSpPr>
          <p:cNvPr id="8" name="env card 1"/>
          <p:cNvSpPr/>
          <p:nvPr/>
        </p:nvSpPr>
        <p:spPr>
          <a:xfrm>
            <a:off x="4343400" y="1783080"/>
            <a:ext cx="3474720" cy="3063240"/>
          </a:xfrm>
          <a:prstGeom prst="roundRect">
            <a:avLst>
              <a:gd name="adj" fmla="val 2388"/>
            </a:avLst>
          </a:prstGeom>
          <a:solidFill>
            <a:schemeClr val="bg2"/>
          </a:solidFill>
          <a:ln w="9525">
            <a:solidFill>
              <a:schemeClr val="accent6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4617720" y="20116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ACTION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4617720" y="2359152"/>
            <a:ext cx="3017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chemeClr val="tx1"/>
                </a:solidFill>
              </a:rPr>
              <a:t>1 of 32 cards</a:t>
            </a:r>
            <a:endParaRPr lang="en-US" sz="1900" dirty="0"/>
          </a:p>
        </p:txBody>
      </p:sp>
      <p:sp>
        <p:nvSpPr>
          <p:cNvPr id="11" name="Text 9"/>
          <p:cNvSpPr txBox="1"/>
          <p:nvPr/>
        </p:nvSpPr>
        <p:spPr>
          <a:xfrm>
            <a:off x="4617720" y="2880360"/>
            <a:ext cx="301752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Illegal cards masked to −∞ before the softmax</a:t>
            </a:r>
            <a:endParaRPr lang="en-US" sz="15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The agent only ever samples a legal move</a:t>
            </a:r>
            <a:endParaRPr lang="en-US" sz="1500" dirty="0"/>
          </a:p>
        </p:txBody>
      </p:sp>
      <p:sp>
        <p:nvSpPr>
          <p:cNvPr id="12" name="env card 2"/>
          <p:cNvSpPr/>
          <p:nvPr/>
        </p:nvSpPr>
        <p:spPr>
          <a:xfrm>
            <a:off x="8138160" y="1783080"/>
            <a:ext cx="3474720" cy="3063240"/>
          </a:xfrm>
          <a:prstGeom prst="roundRect">
            <a:avLst>
              <a:gd name="adj" fmla="val 2388"/>
            </a:avLst>
          </a:prstGeom>
          <a:solidFill>
            <a:schemeClr val="bg2"/>
          </a:solidFill>
          <a:ln w="9525">
            <a:solidFill>
              <a:schemeClr val="accent6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8412480" y="20116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REWARD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8412480" y="2359152"/>
            <a:ext cx="3017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chemeClr val="tx1"/>
                </a:solidFill>
              </a:rPr>
              <a:t>Points actually won</a:t>
            </a:r>
            <a:endParaRPr lang="en-US" sz="1900" dirty="0"/>
          </a:p>
        </p:txBody>
      </p:sp>
      <p:sp>
        <p:nvSpPr>
          <p:cNvPr id="15" name="Text 13"/>
          <p:cNvSpPr txBox="1"/>
          <p:nvPr/>
        </p:nvSpPr>
        <p:spPr>
          <a:xfrm>
            <a:off x="8412480" y="2880360"/>
            <a:ext cx="301752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Trick points, normalized</a:t>
            </a:r>
            <a:endParaRPr lang="en-US" sz="15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+ dix de der, + belote-rebelote</a:t>
            </a:r>
            <a:endParaRPr lang="en-US" sz="15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No ±1 win bonus (removed — see results)</a:t>
            </a:r>
            <a:endParaRPr lang="en-US" sz="1500" dirty="0"/>
          </a:p>
        </p:txBody>
      </p:sp>
      <p:sp>
        <p:nvSpPr>
          <p:cNvPr id="16" name="bug card"/>
          <p:cNvSpPr/>
          <p:nvPr/>
        </p:nvSpPr>
        <p:spPr>
          <a:xfrm>
            <a:off x="548640" y="5074920"/>
            <a:ext cx="11064240" cy="1051560"/>
          </a:xfrm>
          <a:prstGeom prst="roundRect">
            <a:avLst>
              <a:gd name="adj" fmla="val 6957"/>
            </a:avLst>
          </a:prstGeom>
          <a:solidFill>
            <a:schemeClr val="bg2"/>
          </a:solidFill>
          <a:ln w="9525">
            <a:solidFill>
              <a:schemeClr val="accent6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822960" y="5230368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chemeClr val="accent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BUG FIXED</a:t>
            </a:r>
            <a:endParaRPr lang="en-US" sz="1100" dirty="0"/>
          </a:p>
        </p:txBody>
      </p:sp>
      <p:sp>
        <p:nvSpPr>
          <p:cNvPr id="18" name="Text 16"/>
          <p:cNvSpPr txBox="1"/>
          <p:nvPr/>
        </p:nvSpPr>
        <p:spPr>
          <a:xfrm>
            <a:off x="822960" y="5532120"/>
            <a:ext cx="10515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Trick winners were stored as an absolute seat (0/1) while everything else was relative to the active player — breaking the perspective a shared self-play network relies on. Re-encoded as me / opponent / not played.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09960" y="638251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tx2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548640" y="384048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06 / BASELINES</a:t>
            </a:r>
            <a:endParaRPr lang="en-US" sz="12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713232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tx1"/>
                </a:solidFill>
              </a:rPr>
              <a:t>Hand-crafted reference opponents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69164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Strength = average point margin per game against the Random agent (duplicate deals, 10 000 games each)</a:t>
            </a:r>
            <a:endParaRPr lang="en-US" sz="1300" dirty="0"/>
          </a:p>
        </p:txBody>
      </p:sp>
      <p:sp>
        <p:nvSpPr>
          <p:cNvPr id="5" name="baseline Random"/>
          <p:cNvSpPr/>
          <p:nvPr/>
        </p:nvSpPr>
        <p:spPr>
          <a:xfrm>
            <a:off x="548640" y="2194560"/>
            <a:ext cx="11064240" cy="841248"/>
          </a:xfrm>
          <a:prstGeom prst="roundRect">
            <a:avLst>
              <a:gd name="adj" fmla="val 8696"/>
            </a:avLst>
          </a:prstGeom>
          <a:solidFill>
            <a:schemeClr val="bg2"/>
          </a:solidFill>
          <a:ln w="9525">
            <a:solidFill>
              <a:schemeClr val="accent6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22960" y="2331720"/>
            <a:ext cx="21945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Random</a:t>
            </a:r>
            <a:endParaRPr lang="en-US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2926080" y="2331720"/>
            <a:ext cx="5120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Plays a uniformly random legal card. Sanity floor.</a:t>
            </a:r>
            <a:endParaRPr lang="en-US" sz="1300" dirty="0"/>
          </a:p>
        </p:txBody>
      </p:sp>
      <p:sp>
        <p:nvSpPr>
          <p:cNvPr id="8" name="baseline track Random"/>
          <p:cNvSpPr/>
          <p:nvPr/>
        </p:nvSpPr>
        <p:spPr>
          <a:xfrm>
            <a:off x="8229600" y="2523744"/>
            <a:ext cx="2377440" cy="182880"/>
          </a:xfrm>
          <a:prstGeom prst="rect">
            <a:avLst/>
          </a:prstGeom>
          <a:solidFill>
            <a:schemeClr val="bg1"/>
          </a:solidFill>
          <a:ln w="6350">
            <a:solidFill>
              <a:schemeClr val="accent6"/>
            </a:solidFill>
            <a:prstDash val="solid"/>
          </a:ln>
        </p:spPr>
      </p:sp>
      <p:sp>
        <p:nvSpPr>
          <p:cNvPr id="9" name="baseline bar Random"/>
          <p:cNvSpPr/>
          <p:nvPr/>
        </p:nvSpPr>
        <p:spPr>
          <a:xfrm>
            <a:off x="8229600" y="2523744"/>
            <a:ext cx="118872" cy="182880"/>
          </a:xfrm>
          <a:prstGeom prst="rect">
            <a:avLst/>
          </a:prstGeom>
          <a:solidFill>
            <a:schemeClr val="accent4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10744200" y="2377440"/>
            <a:ext cx="731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+0.4</a:t>
            </a:r>
            <a:endParaRPr lang="en-US" sz="1600" dirty="0"/>
          </a:p>
        </p:txBody>
      </p:sp>
      <p:sp>
        <p:nvSpPr>
          <p:cNvPr id="11" name="baseline Heuristic"/>
          <p:cNvSpPr/>
          <p:nvPr/>
        </p:nvSpPr>
        <p:spPr>
          <a:xfrm>
            <a:off x="548640" y="3182112"/>
            <a:ext cx="11064240" cy="841248"/>
          </a:xfrm>
          <a:prstGeom prst="roundRect">
            <a:avLst>
              <a:gd name="adj" fmla="val 8696"/>
            </a:avLst>
          </a:prstGeom>
          <a:solidFill>
            <a:schemeClr val="bg2"/>
          </a:solidFill>
          <a:ln w="9525">
            <a:solidFill>
              <a:schemeClr val="accent6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22960" y="3319272"/>
            <a:ext cx="21945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Heuristic</a:t>
            </a:r>
            <a:endParaRPr lang="en-US" sz="1800" dirty="0"/>
          </a:p>
        </p:txBody>
      </p:sp>
      <p:sp>
        <p:nvSpPr>
          <p:cNvPr id="13" name="Text 11"/>
          <p:cNvSpPr txBox="1"/>
          <p:nvPr/>
        </p:nvSpPr>
        <p:spPr>
          <a:xfrm>
            <a:off x="2926080" y="3319272"/>
            <a:ext cx="5120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Leads its strongest trump, wins tricks as cheaply as possible, discards low.</a:t>
            </a:r>
            <a:endParaRPr lang="en-US" sz="1300" dirty="0"/>
          </a:p>
        </p:txBody>
      </p:sp>
      <p:sp>
        <p:nvSpPr>
          <p:cNvPr id="14" name="baseline track Heuristic"/>
          <p:cNvSpPr/>
          <p:nvPr/>
        </p:nvSpPr>
        <p:spPr>
          <a:xfrm>
            <a:off x="8229600" y="3511296"/>
            <a:ext cx="2377440" cy="182880"/>
          </a:xfrm>
          <a:prstGeom prst="rect">
            <a:avLst/>
          </a:prstGeom>
          <a:solidFill>
            <a:schemeClr val="bg1"/>
          </a:solidFill>
          <a:ln w="6350">
            <a:solidFill>
              <a:schemeClr val="accent6"/>
            </a:solidFill>
            <a:prstDash val="solid"/>
          </a:ln>
        </p:spPr>
      </p:sp>
      <p:sp>
        <p:nvSpPr>
          <p:cNvPr id="15" name="baseline bar Heuristic"/>
          <p:cNvSpPr/>
          <p:nvPr/>
        </p:nvSpPr>
        <p:spPr>
          <a:xfrm>
            <a:off x="8229600" y="3511296"/>
            <a:ext cx="1159002" cy="182880"/>
          </a:xfrm>
          <a:prstGeom prst="rect">
            <a:avLst/>
          </a:prstGeom>
          <a:solidFill>
            <a:schemeClr val="accent4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10744200" y="3364992"/>
            <a:ext cx="731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+3.9</a:t>
            </a:r>
            <a:endParaRPr lang="en-US" sz="1600" dirty="0"/>
          </a:p>
        </p:txBody>
      </p:sp>
      <p:sp>
        <p:nvSpPr>
          <p:cNvPr id="17" name="baseline VoidExploit"/>
          <p:cNvSpPr/>
          <p:nvPr/>
        </p:nvSpPr>
        <p:spPr>
          <a:xfrm>
            <a:off x="548640" y="4169664"/>
            <a:ext cx="11064240" cy="841248"/>
          </a:xfrm>
          <a:prstGeom prst="roundRect">
            <a:avLst>
              <a:gd name="adj" fmla="val 8696"/>
            </a:avLst>
          </a:prstGeom>
          <a:solidFill>
            <a:schemeClr val="bg2"/>
          </a:solidFill>
          <a:ln w="9525">
            <a:solidFill>
              <a:schemeClr val="accent6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822960" y="4306824"/>
            <a:ext cx="21945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VoidExploit</a:t>
            </a:r>
            <a:endParaRPr lang="en-US" sz="1800" dirty="0"/>
          </a:p>
        </p:txBody>
      </p:sp>
      <p:sp>
        <p:nvSpPr>
          <p:cNvPr id="19" name="Text 17"/>
          <p:cNvSpPr txBox="1"/>
          <p:nvPr/>
        </p:nvSpPr>
        <p:spPr>
          <a:xfrm>
            <a:off x="2926080" y="4306824"/>
            <a:ext cx="5120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Tracks suits the opponent can't follow and leads them to drain its trumps.</a:t>
            </a:r>
            <a:endParaRPr lang="en-US" sz="1300" dirty="0"/>
          </a:p>
        </p:txBody>
      </p:sp>
      <p:sp>
        <p:nvSpPr>
          <p:cNvPr id="20" name="baseline track VoidExploit"/>
          <p:cNvSpPr/>
          <p:nvPr/>
        </p:nvSpPr>
        <p:spPr>
          <a:xfrm>
            <a:off x="8229600" y="4498848"/>
            <a:ext cx="2377440" cy="182880"/>
          </a:xfrm>
          <a:prstGeom prst="rect">
            <a:avLst/>
          </a:prstGeom>
          <a:solidFill>
            <a:schemeClr val="bg1"/>
          </a:solidFill>
          <a:ln w="6350">
            <a:solidFill>
              <a:schemeClr val="accent6"/>
            </a:solidFill>
            <a:prstDash val="solid"/>
          </a:ln>
        </p:spPr>
      </p:sp>
      <p:sp>
        <p:nvSpPr>
          <p:cNvPr id="21" name="baseline bar VoidExploit"/>
          <p:cNvSpPr/>
          <p:nvPr/>
        </p:nvSpPr>
        <p:spPr>
          <a:xfrm>
            <a:off x="8229600" y="4498848"/>
            <a:ext cx="2169414" cy="182880"/>
          </a:xfrm>
          <a:prstGeom prst="rect">
            <a:avLst/>
          </a:prstGeom>
          <a:solidFill>
            <a:schemeClr val="accent4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10744200" y="4352544"/>
            <a:ext cx="731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+7.3</a:t>
            </a:r>
            <a:endParaRPr lang="en-US" sz="1600" dirty="0"/>
          </a:p>
        </p:txBody>
      </p:sp>
      <p:sp>
        <p:nvSpPr>
          <p:cNvPr id="23" name="baseline TrumpCount"/>
          <p:cNvSpPr/>
          <p:nvPr/>
        </p:nvSpPr>
        <p:spPr>
          <a:xfrm>
            <a:off x="548640" y="5157216"/>
            <a:ext cx="11064240" cy="841248"/>
          </a:xfrm>
          <a:prstGeom prst="roundRect">
            <a:avLst>
              <a:gd name="adj" fmla="val 8696"/>
            </a:avLst>
          </a:prstGeom>
          <a:solidFill>
            <a:schemeClr val="bg2"/>
          </a:solidFill>
          <a:ln w="9525">
            <a:solidFill>
              <a:schemeClr val="accent6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822960" y="5294376"/>
            <a:ext cx="21945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TrumpCount</a:t>
            </a:r>
            <a:endParaRPr lang="en-US" sz="1800" dirty="0"/>
          </a:p>
        </p:txBody>
      </p:sp>
      <p:sp>
        <p:nvSpPr>
          <p:cNvPr id="25" name="Text 23"/>
          <p:cNvSpPr txBox="1"/>
          <p:nvPr/>
        </p:nvSpPr>
        <p:spPr>
          <a:xfrm>
            <a:off x="2926080" y="5294376"/>
            <a:ext cx="5120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Counts remaining trumps and leads trump only when holding the majority.</a:t>
            </a:r>
            <a:endParaRPr lang="en-US" sz="1300" dirty="0"/>
          </a:p>
        </p:txBody>
      </p:sp>
      <p:sp>
        <p:nvSpPr>
          <p:cNvPr id="26" name="baseline track TrumpCount"/>
          <p:cNvSpPr/>
          <p:nvPr/>
        </p:nvSpPr>
        <p:spPr>
          <a:xfrm>
            <a:off x="8229600" y="5486400"/>
            <a:ext cx="2377440" cy="182880"/>
          </a:xfrm>
          <a:prstGeom prst="rect">
            <a:avLst/>
          </a:prstGeom>
          <a:solidFill>
            <a:schemeClr val="bg1"/>
          </a:solidFill>
          <a:ln w="6350">
            <a:solidFill>
              <a:schemeClr val="accent6"/>
            </a:solidFill>
            <a:prstDash val="solid"/>
          </a:ln>
        </p:spPr>
      </p:sp>
      <p:sp>
        <p:nvSpPr>
          <p:cNvPr id="27" name="baseline bar TrumpCount"/>
          <p:cNvSpPr/>
          <p:nvPr/>
        </p:nvSpPr>
        <p:spPr>
          <a:xfrm>
            <a:off x="8229600" y="5486400"/>
            <a:ext cx="2347722" cy="182880"/>
          </a:xfrm>
          <a:prstGeom prst="rect">
            <a:avLst/>
          </a:prstGeom>
          <a:solidFill>
            <a:schemeClr val="accent1"/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10744200" y="5340096"/>
            <a:ext cx="731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+7.9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09960" y="638251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tx2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548640" y="384048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07 / AGENT</a:t>
            </a:r>
            <a:endParaRPr lang="en-US" sz="12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713232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tx1"/>
                </a:solidFill>
              </a:rPr>
              <a:t>One shared network, trained by PPO self-play</a:t>
            </a:r>
            <a:endParaRPr lang="en-US" sz="3400" dirty="0"/>
          </a:p>
        </p:txBody>
      </p:sp>
      <p:sp>
        <p:nvSpPr>
          <p:cNvPr id="4" name="network card"/>
          <p:cNvSpPr/>
          <p:nvPr/>
        </p:nvSpPr>
        <p:spPr>
          <a:xfrm>
            <a:off x="548640" y="1783080"/>
            <a:ext cx="5120640" cy="4343400"/>
          </a:xfrm>
          <a:prstGeom prst="roundRect">
            <a:avLst>
              <a:gd name="adj" fmla="val 1684"/>
            </a:avLst>
          </a:prstGeom>
          <a:solidFill>
            <a:schemeClr val="bg2"/>
          </a:solidFill>
          <a:ln w="9525">
            <a:solidFill>
              <a:schemeClr val="accent6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22960" y="20116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ACTOR-CRITIC NETWORK</a:t>
            </a:r>
            <a:endParaRPr lang="en-US" sz="1100" dirty="0"/>
          </a:p>
        </p:txBody>
      </p:sp>
      <p:sp>
        <p:nvSpPr>
          <p:cNvPr id="6" name="layer 0"/>
          <p:cNvSpPr/>
          <p:nvPr/>
        </p:nvSpPr>
        <p:spPr>
          <a:xfrm>
            <a:off x="1280160" y="2468880"/>
            <a:ext cx="3657600" cy="548640"/>
          </a:xfrm>
          <a:prstGeom prst="roundRect">
            <a:avLst>
              <a:gd name="adj" fmla="val 10000"/>
            </a:avLst>
          </a:prstGeom>
          <a:solidFill>
            <a:schemeClr val="bg1"/>
          </a:solidFill>
          <a:ln w="12700">
            <a:solidFill>
              <a:schemeClr val="accent6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463040" y="2468880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Observation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3840480" y="2468880"/>
            <a:ext cx="914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598</a:t>
            </a:r>
            <a:endParaRPr lang="en-US" sz="1400" dirty="0"/>
          </a:p>
        </p:txBody>
      </p:sp>
      <p:sp>
        <p:nvSpPr>
          <p:cNvPr id="9" name="layer 1"/>
          <p:cNvSpPr/>
          <p:nvPr/>
        </p:nvSpPr>
        <p:spPr>
          <a:xfrm>
            <a:off x="1280160" y="3246120"/>
            <a:ext cx="3657600" cy="548640"/>
          </a:xfrm>
          <a:prstGeom prst="roundRect">
            <a:avLst>
              <a:gd name="adj" fmla="val 10000"/>
            </a:avLst>
          </a:prstGeom>
          <a:solidFill>
            <a:schemeClr val="bg1"/>
          </a:solidFill>
          <a:ln w="12700">
            <a:solidFill>
              <a:schemeClr val="accent6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1463040" y="3246120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Dense + ReLU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3840480" y="3246120"/>
            <a:ext cx="914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128</a:t>
            </a:r>
            <a:endParaRPr lang="en-US" sz="1400" dirty="0"/>
          </a:p>
        </p:txBody>
      </p:sp>
      <p:sp>
        <p:nvSpPr>
          <p:cNvPr id="12" name="layer 2"/>
          <p:cNvSpPr/>
          <p:nvPr/>
        </p:nvSpPr>
        <p:spPr>
          <a:xfrm>
            <a:off x="1280160" y="4023360"/>
            <a:ext cx="3657600" cy="548640"/>
          </a:xfrm>
          <a:prstGeom prst="roundRect">
            <a:avLst>
              <a:gd name="adj" fmla="val 10000"/>
            </a:avLst>
          </a:prstGeom>
          <a:solidFill>
            <a:schemeClr val="bg1"/>
          </a:solidFill>
          <a:ln w="12700">
            <a:solidFill>
              <a:schemeClr val="accent6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1463040" y="4023360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Dense + ReLU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3840480" y="4023360"/>
            <a:ext cx="914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128</a:t>
            </a:r>
            <a:endParaRPr lang="en-US" sz="1400" dirty="0"/>
          </a:p>
        </p:txBody>
      </p:sp>
      <p:sp>
        <p:nvSpPr>
          <p:cNvPr id="15" name="head Policy"/>
          <p:cNvSpPr/>
          <p:nvPr/>
        </p:nvSpPr>
        <p:spPr>
          <a:xfrm>
            <a:off x="1280160" y="4846320"/>
            <a:ext cx="1737360" cy="685800"/>
          </a:xfrm>
          <a:prstGeom prst="roundRect">
            <a:avLst>
              <a:gd name="adj" fmla="val 8000"/>
            </a:avLst>
          </a:prstGeom>
          <a:solidFill>
            <a:schemeClr val="bg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1280160" y="4873752"/>
            <a:ext cx="1737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Policy</a:t>
            </a:r>
            <a:endParaRPr lang="en-US" sz="1400" dirty="0"/>
          </a:p>
        </p:txBody>
      </p:sp>
      <p:sp>
        <p:nvSpPr>
          <p:cNvPr id="17" name="Text 15"/>
          <p:cNvSpPr txBox="1"/>
          <p:nvPr/>
        </p:nvSpPr>
        <p:spPr>
          <a:xfrm>
            <a:off x="1280160" y="5193792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tx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32 logits</a:t>
            </a:r>
            <a:endParaRPr lang="en-US" sz="1100" dirty="0"/>
          </a:p>
        </p:txBody>
      </p:sp>
      <p:sp>
        <p:nvSpPr>
          <p:cNvPr id="18" name="head Value"/>
          <p:cNvSpPr/>
          <p:nvPr/>
        </p:nvSpPr>
        <p:spPr>
          <a:xfrm>
            <a:off x="3200400" y="4846320"/>
            <a:ext cx="1737360" cy="685800"/>
          </a:xfrm>
          <a:prstGeom prst="roundRect">
            <a:avLst>
              <a:gd name="adj" fmla="val 8000"/>
            </a:avLst>
          </a:prstGeom>
          <a:solidFill>
            <a:schemeClr val="bg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3200400" y="4873752"/>
            <a:ext cx="1737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Value</a:t>
            </a:r>
            <a:endParaRPr lang="en-US" sz="1400" dirty="0"/>
          </a:p>
        </p:txBody>
      </p:sp>
      <p:sp>
        <p:nvSpPr>
          <p:cNvPr id="20" name="Text 18"/>
          <p:cNvSpPr txBox="1"/>
          <p:nvPr/>
        </p:nvSpPr>
        <p:spPr>
          <a:xfrm>
            <a:off x="3200400" y="5193792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tx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 scalar</a:t>
            </a:r>
            <a:endParaRPr lang="en-US" sz="1100" dirty="0"/>
          </a:p>
        </p:txBody>
      </p:sp>
      <p:sp>
        <p:nvSpPr>
          <p:cNvPr id="21" name="Text 19"/>
          <p:cNvSpPr txBox="1"/>
          <p:nvPr/>
        </p:nvSpPr>
        <p:spPr>
          <a:xfrm>
            <a:off x="822960" y="566928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Same weights play both seats — observations are always seen from the active player.</a:t>
            </a:r>
            <a:endParaRPr lang="en-US" sz="1200" dirty="0"/>
          </a:p>
        </p:txBody>
      </p:sp>
      <p:sp>
        <p:nvSpPr>
          <p:cNvPr id="22" name="ppo card"/>
          <p:cNvSpPr/>
          <p:nvPr/>
        </p:nvSpPr>
        <p:spPr>
          <a:xfrm>
            <a:off x="5943600" y="1783080"/>
            <a:ext cx="5669280" cy="4343400"/>
          </a:xfrm>
          <a:prstGeom prst="roundRect">
            <a:avLst>
              <a:gd name="adj" fmla="val 1684"/>
            </a:avLst>
          </a:prstGeom>
          <a:solidFill>
            <a:schemeClr val="bg2"/>
          </a:solidFill>
          <a:ln w="9525">
            <a:solidFill>
              <a:schemeClr val="accent6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6217920" y="20116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TRAINING LOOP</a:t>
            </a:r>
            <a:endParaRPr lang="en-US" sz="1100" dirty="0"/>
          </a:p>
        </p:txBody>
      </p:sp>
      <p:sp>
        <p:nvSpPr>
          <p:cNvPr id="24" name="loop step 0"/>
          <p:cNvSpPr/>
          <p:nvPr/>
        </p:nvSpPr>
        <p:spPr>
          <a:xfrm>
            <a:off x="6217920" y="2468880"/>
            <a:ext cx="502920" cy="502920"/>
          </a:xfrm>
          <a:prstGeom prst="ellipse">
            <a:avLst/>
          </a:prstGeom>
          <a:solidFill>
            <a:schemeClr val="bg1"/>
          </a:solidFill>
          <a:ln w="15875">
            <a:solidFill>
              <a:schemeClr val="accent1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6217920" y="24688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400" dirty="0"/>
          </a:p>
        </p:txBody>
      </p:sp>
      <p:sp>
        <p:nvSpPr>
          <p:cNvPr id="26" name="Text 24"/>
          <p:cNvSpPr txBox="1"/>
          <p:nvPr/>
        </p:nvSpPr>
        <p:spPr>
          <a:xfrm>
            <a:off x="6949440" y="2423160"/>
            <a:ext cx="4480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Rollout</a:t>
            </a:r>
            <a:endParaRPr lang="en-US" sz="1500" dirty="0"/>
          </a:p>
        </p:txBody>
      </p:sp>
      <p:sp>
        <p:nvSpPr>
          <p:cNvPr id="27" name="Text 25"/>
          <p:cNvSpPr txBox="1"/>
          <p:nvPr/>
        </p:nvSpPr>
        <p:spPr>
          <a:xfrm>
            <a:off x="6949440" y="2743200"/>
            <a:ext cx="4480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128 self-play rounds, alternating who leads</a:t>
            </a:r>
            <a:endParaRPr lang="en-US" sz="1300" dirty="0"/>
          </a:p>
        </p:txBody>
      </p:sp>
      <p:sp>
        <p:nvSpPr>
          <p:cNvPr id="28" name="loop step 1"/>
          <p:cNvSpPr/>
          <p:nvPr/>
        </p:nvSpPr>
        <p:spPr>
          <a:xfrm>
            <a:off x="6217920" y="3273552"/>
            <a:ext cx="502920" cy="502920"/>
          </a:xfrm>
          <a:prstGeom prst="ellipse">
            <a:avLst/>
          </a:prstGeom>
          <a:solidFill>
            <a:schemeClr val="bg1"/>
          </a:solidFill>
          <a:ln w="15875">
            <a:solidFill>
              <a:schemeClr val="accent1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6217920" y="3273552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400" dirty="0"/>
          </a:p>
        </p:txBody>
      </p:sp>
      <p:sp>
        <p:nvSpPr>
          <p:cNvPr id="30" name="Text 28"/>
          <p:cNvSpPr txBox="1"/>
          <p:nvPr/>
        </p:nvSpPr>
        <p:spPr>
          <a:xfrm>
            <a:off x="6949440" y="3227832"/>
            <a:ext cx="4480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Credit</a:t>
            </a:r>
            <a:endParaRPr lang="en-US" sz="1500" dirty="0"/>
          </a:p>
        </p:txBody>
      </p:sp>
      <p:sp>
        <p:nvSpPr>
          <p:cNvPr id="31" name="Text 29"/>
          <p:cNvSpPr txBox="1"/>
          <p:nvPr/>
        </p:nvSpPr>
        <p:spPr>
          <a:xfrm>
            <a:off x="6949440" y="3547872"/>
            <a:ext cx="4480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Trick reward sent back to the move that earned it</a:t>
            </a:r>
            <a:endParaRPr lang="en-US" sz="1300" dirty="0"/>
          </a:p>
        </p:txBody>
      </p:sp>
      <p:sp>
        <p:nvSpPr>
          <p:cNvPr id="32" name="loop step 2"/>
          <p:cNvSpPr/>
          <p:nvPr/>
        </p:nvSpPr>
        <p:spPr>
          <a:xfrm>
            <a:off x="6217920" y="4078224"/>
            <a:ext cx="502920" cy="502920"/>
          </a:xfrm>
          <a:prstGeom prst="ellipse">
            <a:avLst/>
          </a:prstGeom>
          <a:solidFill>
            <a:schemeClr val="bg1"/>
          </a:solidFill>
          <a:ln w="15875">
            <a:solidFill>
              <a:schemeClr val="accent1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6217920" y="4078224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400" dirty="0"/>
          </a:p>
        </p:txBody>
      </p:sp>
      <p:sp>
        <p:nvSpPr>
          <p:cNvPr id="34" name="Text 32"/>
          <p:cNvSpPr txBox="1"/>
          <p:nvPr/>
        </p:nvSpPr>
        <p:spPr>
          <a:xfrm>
            <a:off x="6949440" y="4032504"/>
            <a:ext cx="4480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GAE</a:t>
            </a:r>
            <a:endParaRPr lang="en-US" sz="1500" dirty="0"/>
          </a:p>
        </p:txBody>
      </p:sp>
      <p:sp>
        <p:nvSpPr>
          <p:cNvPr id="35" name="Text 33"/>
          <p:cNvSpPr txBox="1"/>
          <p:nvPr/>
        </p:nvSpPr>
        <p:spPr>
          <a:xfrm>
            <a:off x="6949440" y="4352544"/>
            <a:ext cx="4480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Advantages computed per seat (γ = λ = 1)</a:t>
            </a:r>
            <a:endParaRPr lang="en-US" sz="1300" dirty="0"/>
          </a:p>
        </p:txBody>
      </p:sp>
      <p:sp>
        <p:nvSpPr>
          <p:cNvPr id="36" name="loop step 3"/>
          <p:cNvSpPr/>
          <p:nvPr/>
        </p:nvSpPr>
        <p:spPr>
          <a:xfrm>
            <a:off x="6217920" y="4882896"/>
            <a:ext cx="502920" cy="502920"/>
          </a:xfrm>
          <a:prstGeom prst="ellipse">
            <a:avLst/>
          </a:prstGeom>
          <a:solidFill>
            <a:schemeClr val="bg1"/>
          </a:solidFill>
          <a:ln w="15875">
            <a:solidFill>
              <a:schemeClr val="accent1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6217920" y="4882896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1400" dirty="0"/>
          </a:p>
        </p:txBody>
      </p:sp>
      <p:sp>
        <p:nvSpPr>
          <p:cNvPr id="38" name="Text 36"/>
          <p:cNvSpPr txBox="1"/>
          <p:nvPr/>
        </p:nvSpPr>
        <p:spPr>
          <a:xfrm>
            <a:off x="6949440" y="4837176"/>
            <a:ext cx="4480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PPO update</a:t>
            </a:r>
            <a:endParaRPr lang="en-US" sz="1500" dirty="0"/>
          </a:p>
        </p:txBody>
      </p:sp>
      <p:sp>
        <p:nvSpPr>
          <p:cNvPr id="39" name="Text 37"/>
          <p:cNvSpPr txBox="1"/>
          <p:nvPr/>
        </p:nvSpPr>
        <p:spPr>
          <a:xfrm>
            <a:off x="6949440" y="5157216"/>
            <a:ext cx="4480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Clip ε 0.2 · 4 epochs · batch 256 · Adam 3e-4</a:t>
            </a:r>
            <a:endParaRPr lang="en-US" sz="1300" dirty="0"/>
          </a:p>
        </p:txBody>
      </p:sp>
      <p:sp>
        <p:nvSpPr>
          <p:cNvPr id="40" name="Text 38"/>
          <p:cNvSpPr txBox="1"/>
          <p:nvPr/>
        </p:nvSpPr>
        <p:spPr>
          <a:xfrm>
            <a:off x="6217920" y="5669280"/>
            <a:ext cx="5212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Repeat → evaluation every 50 000 games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09960" y="638251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tx2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548640" y="384048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08 / EVALUATION</a:t>
            </a:r>
            <a:endParaRPr lang="en-US" sz="12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713232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tx1"/>
                </a:solidFill>
              </a:rPr>
              <a:t>Measuring skill in a game of luck</a:t>
            </a:r>
            <a:endParaRPr lang="en-US" sz="3400" dirty="0"/>
          </a:p>
        </p:txBody>
      </p:sp>
      <p:sp>
        <p:nvSpPr>
          <p:cNvPr id="4" name="luck stat card"/>
          <p:cNvSpPr/>
          <p:nvPr/>
        </p:nvSpPr>
        <p:spPr>
          <a:xfrm>
            <a:off x="548640" y="1783080"/>
            <a:ext cx="3566160" cy="4343400"/>
          </a:xfrm>
          <a:prstGeom prst="roundRect">
            <a:avLst>
              <a:gd name="adj" fmla="val 2051"/>
            </a:avLst>
          </a:prstGeom>
          <a:solidFill>
            <a:schemeClr val="bg2"/>
          </a:solidFill>
          <a:ln w="9525">
            <a:solidFill>
              <a:schemeClr val="accent6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22960" y="2103120"/>
            <a:ext cx="31089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chemeClr val="accent1"/>
                </a:solidFill>
              </a:rPr>
              <a:t>±7 pp</a:t>
            </a:r>
            <a:endParaRPr lang="en-US" sz="60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3246120"/>
            <a:ext cx="30175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Error bar of a plain 200-game evaluation.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822960" y="4343400"/>
            <a:ext cx="301752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The deal decides most rounds, so this noise was larger than the progress we wanted to detect.</a:t>
            </a:r>
            <a:endParaRPr lang="en-US" sz="1300" dirty="0"/>
          </a:p>
        </p:txBody>
      </p:sp>
      <p:sp>
        <p:nvSpPr>
          <p:cNvPr id="8" name="duplicate card"/>
          <p:cNvSpPr/>
          <p:nvPr/>
        </p:nvSpPr>
        <p:spPr>
          <a:xfrm>
            <a:off x="4389120" y="1783080"/>
            <a:ext cx="7223760" cy="2514600"/>
          </a:xfrm>
          <a:prstGeom prst="roundRect">
            <a:avLst>
              <a:gd name="adj" fmla="val 2909"/>
            </a:avLst>
          </a:prstGeom>
          <a:solidFill>
            <a:schemeClr val="bg2"/>
          </a:solidFill>
          <a:ln w="9525">
            <a:solidFill>
              <a:schemeClr val="accent6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4663440" y="20116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DUPLICATE DEALS — AS IN BRIDGE</a:t>
            </a:r>
            <a:endParaRPr lang="en-US" sz="1100" dirty="0"/>
          </a:p>
        </p:txBody>
      </p:sp>
      <p:sp>
        <p:nvSpPr>
          <p:cNvPr id="10" name="deal box"/>
          <p:cNvSpPr/>
          <p:nvPr/>
        </p:nvSpPr>
        <p:spPr>
          <a:xfrm>
            <a:off x="4663440" y="2697480"/>
            <a:ext cx="1554480" cy="1188720"/>
          </a:xfrm>
          <a:prstGeom prst="roundRect">
            <a:avLst>
              <a:gd name="adj" fmla="val 4615"/>
            </a:avLst>
          </a:prstGeom>
          <a:solidFill>
            <a:schemeClr val="bg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4663440" y="2880360"/>
            <a:ext cx="1554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1 deal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4663440" y="3246120"/>
            <a:ext cx="1554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tx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hands A, B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chemeClr val="tx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+ trump</a:t>
            </a:r>
            <a:endParaRPr lang="en-US" sz="1100" dirty="0"/>
          </a:p>
        </p:txBody>
      </p:sp>
      <p:sp>
        <p:nvSpPr>
          <p:cNvPr id="13" name="Text 11"/>
          <p:cNvSpPr txBox="1"/>
          <p:nvPr/>
        </p:nvSpPr>
        <p:spPr>
          <a:xfrm>
            <a:off x="6309360" y="269748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chemeClr val="tx2"/>
                </a:solidFill>
              </a:rPr>
              <a:t>→</a:t>
            </a:r>
            <a:endParaRPr lang="en-US" sz="1800" dirty="0"/>
          </a:p>
        </p:txBody>
      </p:sp>
      <p:sp>
        <p:nvSpPr>
          <p:cNvPr id="14" name="dup game 0"/>
          <p:cNvSpPr/>
          <p:nvPr/>
        </p:nvSpPr>
        <p:spPr>
          <a:xfrm>
            <a:off x="6766560" y="2697480"/>
            <a:ext cx="2651760" cy="548640"/>
          </a:xfrm>
          <a:prstGeom prst="roundRect">
            <a:avLst>
              <a:gd name="adj" fmla="val 10000"/>
            </a:avLst>
          </a:prstGeom>
          <a:solidFill>
            <a:schemeClr val="bg1"/>
          </a:solidFill>
          <a:ln w="12700">
            <a:solidFill>
              <a:schemeClr val="accent6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6903720" y="2697480"/>
            <a:ext cx="914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Game 1</a:t>
            </a:r>
            <a:endParaRPr lang="en-US" sz="1300" dirty="0"/>
          </a:p>
        </p:txBody>
      </p:sp>
      <p:sp>
        <p:nvSpPr>
          <p:cNvPr id="16" name="Text 14"/>
          <p:cNvSpPr txBox="1"/>
          <p:nvPr/>
        </p:nvSpPr>
        <p:spPr>
          <a:xfrm>
            <a:off x="7726680" y="2697480"/>
            <a:ext cx="1645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tx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Agent: A   Opp: B</a:t>
            </a:r>
            <a:endParaRPr lang="en-US" sz="1000" dirty="0"/>
          </a:p>
        </p:txBody>
      </p:sp>
      <p:sp>
        <p:nvSpPr>
          <p:cNvPr id="17" name="Text 15"/>
          <p:cNvSpPr txBox="1"/>
          <p:nvPr/>
        </p:nvSpPr>
        <p:spPr>
          <a:xfrm>
            <a:off x="6309360" y="333756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chemeClr val="tx2"/>
                </a:solidFill>
              </a:rPr>
              <a:t>→</a:t>
            </a:r>
            <a:endParaRPr lang="en-US" sz="1800" dirty="0"/>
          </a:p>
        </p:txBody>
      </p:sp>
      <p:sp>
        <p:nvSpPr>
          <p:cNvPr id="18" name="dup game 1"/>
          <p:cNvSpPr/>
          <p:nvPr/>
        </p:nvSpPr>
        <p:spPr>
          <a:xfrm>
            <a:off x="6766560" y="3337560"/>
            <a:ext cx="2651760" cy="548640"/>
          </a:xfrm>
          <a:prstGeom prst="roundRect">
            <a:avLst>
              <a:gd name="adj" fmla="val 10000"/>
            </a:avLst>
          </a:prstGeom>
          <a:solidFill>
            <a:schemeClr val="bg1"/>
          </a:solidFill>
          <a:ln w="12700">
            <a:solidFill>
              <a:schemeClr val="accent6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6903720" y="3337560"/>
            <a:ext cx="914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Game 2</a:t>
            </a:r>
            <a:endParaRPr lang="en-US" sz="1300" dirty="0"/>
          </a:p>
        </p:txBody>
      </p:sp>
      <p:sp>
        <p:nvSpPr>
          <p:cNvPr id="20" name="Text 18"/>
          <p:cNvSpPr txBox="1"/>
          <p:nvPr/>
        </p:nvSpPr>
        <p:spPr>
          <a:xfrm>
            <a:off x="7726680" y="3337560"/>
            <a:ext cx="1645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tx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Agent: B   Opp: A</a:t>
            </a:r>
            <a:endParaRPr lang="en-US" sz="1000" dirty="0"/>
          </a:p>
        </p:txBody>
      </p:sp>
      <p:sp>
        <p:nvSpPr>
          <p:cNvPr id="21" name="Text 19"/>
          <p:cNvSpPr txBox="1"/>
          <p:nvPr/>
        </p:nvSpPr>
        <p:spPr>
          <a:xfrm>
            <a:off x="9601200" y="2697480"/>
            <a:ext cx="18288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Same cards, seats swapped: the luck of the deal cancels out.</a:t>
            </a:r>
            <a:endParaRPr lang="en-US" sz="1300" dirty="0"/>
          </a:p>
        </p:txBody>
      </p:sp>
      <p:sp>
        <p:nvSpPr>
          <p:cNvPr id="22" name="precision card"/>
          <p:cNvSpPr/>
          <p:nvPr/>
        </p:nvSpPr>
        <p:spPr>
          <a:xfrm>
            <a:off x="4389120" y="4526280"/>
            <a:ext cx="7223760" cy="1600200"/>
          </a:xfrm>
          <a:prstGeom prst="roundRect">
            <a:avLst>
              <a:gd name="adj" fmla="val 4571"/>
            </a:avLst>
          </a:prstGeom>
          <a:solidFill>
            <a:schemeClr val="bg2"/>
          </a:solidFill>
          <a:ln w="9525">
            <a:solidFill>
              <a:schemeClr val="accent6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4663440" y="4736592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PRECISION, SAME 4 000 GAMES</a:t>
            </a:r>
            <a:endParaRPr lang="en-US" sz="1100" dirty="0"/>
          </a:p>
        </p:txBody>
      </p:sp>
      <p:sp>
        <p:nvSpPr>
          <p:cNvPr id="24" name="Text 22"/>
          <p:cNvSpPr txBox="1"/>
          <p:nvPr/>
        </p:nvSpPr>
        <p:spPr>
          <a:xfrm>
            <a:off x="4663440" y="5074920"/>
            <a:ext cx="3291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Heuristic vs Random</a:t>
            </a:r>
            <a:endParaRPr lang="en-US" sz="1300" dirty="0"/>
          </a:p>
        </p:txBody>
      </p:sp>
      <p:sp>
        <p:nvSpPr>
          <p:cNvPr id="25" name="Text 23"/>
          <p:cNvSpPr txBox="1"/>
          <p:nvPr/>
        </p:nvSpPr>
        <p:spPr>
          <a:xfrm>
            <a:off x="7955280" y="5074920"/>
            <a:ext cx="21945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±1.44  →  </a:t>
            </a:r>
            <a:pPr indent="0" marL="0">
              <a:buNone/>
            </a:pPr>
            <a:r>
              <a:rPr lang="en-US" sz="1300" b="1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±0.74 pts</a:t>
            </a:r>
            <a:endParaRPr lang="en-US" sz="1300" dirty="0"/>
          </a:p>
        </p:txBody>
      </p:sp>
      <p:sp>
        <p:nvSpPr>
          <p:cNvPr id="26" name="Text 24"/>
          <p:cNvSpPr txBox="1"/>
          <p:nvPr/>
        </p:nvSpPr>
        <p:spPr>
          <a:xfrm>
            <a:off x="4663440" y="5404104"/>
            <a:ext cx="3291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TrumpCount vs Heuristic</a:t>
            </a:r>
            <a:endParaRPr lang="en-US" sz="1300" dirty="0"/>
          </a:p>
        </p:txBody>
      </p:sp>
      <p:sp>
        <p:nvSpPr>
          <p:cNvPr id="27" name="Text 25"/>
          <p:cNvSpPr txBox="1"/>
          <p:nvPr/>
        </p:nvSpPr>
        <p:spPr>
          <a:xfrm>
            <a:off x="7955280" y="5404104"/>
            <a:ext cx="21945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±1.22  →  </a:t>
            </a:r>
            <a:pPr indent="0" marL="0">
              <a:buNone/>
            </a:pPr>
            <a:r>
              <a:rPr lang="en-US" sz="1300" b="1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±0.52 pts</a:t>
            </a:r>
            <a:endParaRPr lang="en-US" sz="1300" dirty="0"/>
          </a:p>
        </p:txBody>
      </p:sp>
      <p:sp>
        <p:nvSpPr>
          <p:cNvPr id="28" name="Text 26"/>
          <p:cNvSpPr txBox="1"/>
          <p:nvPr/>
        </p:nvSpPr>
        <p:spPr>
          <a:xfrm>
            <a:off x="4663440" y="5733288"/>
            <a:ext cx="3291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VoidExploit vs Heuristic</a:t>
            </a:r>
            <a:endParaRPr lang="en-US" sz="1300" dirty="0"/>
          </a:p>
        </p:txBody>
      </p:sp>
      <p:sp>
        <p:nvSpPr>
          <p:cNvPr id="29" name="Text 27"/>
          <p:cNvSpPr txBox="1"/>
          <p:nvPr/>
        </p:nvSpPr>
        <p:spPr>
          <a:xfrm>
            <a:off x="7955280" y="5733288"/>
            <a:ext cx="21945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±1.20  →  </a:t>
            </a:r>
            <a:pPr indent="0" marL="0">
              <a:buNone/>
            </a:pPr>
            <a:r>
              <a:rPr lang="en-US" sz="1300" b="1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±0.41 pts</a:t>
            </a:r>
            <a:endParaRPr lang="en-US" sz="1300" dirty="0"/>
          </a:p>
        </p:txBody>
      </p:sp>
      <p:sp>
        <p:nvSpPr>
          <p:cNvPr id="30" name="Text 28"/>
          <p:cNvSpPr txBox="1"/>
          <p:nvPr/>
        </p:nvSpPr>
        <p:spPr>
          <a:xfrm>
            <a:off x="9966960" y="5074920"/>
            <a:ext cx="1554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1"/>
                </a:solidFill>
              </a:rPr>
              <a:t>4–9× fewer games</a:t>
            </a:r>
            <a:endParaRPr lang="en-US" sz="1200" dirty="0"/>
          </a:p>
          <a:p>
            <a:pPr indent="0" marL="0">
              <a:buNone/>
            </a:pPr>
            <a:r>
              <a:rPr lang="en-US" sz="1200" b="1" dirty="0">
                <a:solidFill>
                  <a:schemeClr val="accent1"/>
                </a:solidFill>
              </a:rPr>
              <a:t>for the same precision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09960" y="638251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tx2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548640" y="384048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09 / ABLATIONS</a:t>
            </a:r>
            <a:endParaRPr lang="en-US" sz="12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713232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tx1"/>
                </a:solidFill>
              </a:rPr>
              <a:t>What unlocked learning</a:t>
            </a:r>
            <a:endParaRPr lang="en-US" sz="3400" dirty="0"/>
          </a:p>
        </p:txBody>
      </p:sp>
      <p:sp>
        <p:nvSpPr>
          <p:cNvPr id="4" name="fixes card"/>
          <p:cNvSpPr/>
          <p:nvPr/>
        </p:nvSpPr>
        <p:spPr>
          <a:xfrm>
            <a:off x="548640" y="1783080"/>
            <a:ext cx="4572000" cy="4343400"/>
          </a:xfrm>
          <a:prstGeom prst="roundRect">
            <a:avLst>
              <a:gd name="adj" fmla="val 1684"/>
            </a:avLst>
          </a:prstGeom>
          <a:solidFill>
            <a:schemeClr val="bg2"/>
          </a:solidFill>
          <a:ln w="9525">
            <a:solidFill>
              <a:schemeClr val="accent6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22960" y="20116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THREE CHANGES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242316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01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1417320" y="242316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GAE per seat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1417320" y="2807208"/>
            <a:ext cx="3474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Returns mixed both players' points — the signal "who wins the points" vanished. Bug fixed.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822960" y="361188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02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1417320" y="361188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No ±1 win bonus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1417320" y="3995928"/>
            <a:ext cx="3474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Winning a round mostly depends on the deal: the bonus was noise.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822960" y="480060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03</a:t>
            </a:r>
            <a:endParaRPr lang="en-US" sz="1600" dirty="0"/>
          </a:p>
        </p:txBody>
      </p:sp>
      <p:sp>
        <p:nvSpPr>
          <p:cNvPr id="13" name="Text 11"/>
          <p:cNvSpPr txBox="1"/>
          <p:nvPr/>
        </p:nvSpPr>
        <p:spPr>
          <a:xfrm>
            <a:off x="1417320" y="480060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Learning rate 3e-4</a:t>
            </a:r>
            <a:endParaRPr lang="en-US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1417320" y="5184648"/>
            <a:ext cx="3474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1e-3 made updates too abrupt (KL ≈ 0.04).</a:t>
            </a:r>
            <a:endParaRPr lang="en-US" sz="1300" dirty="0"/>
          </a:p>
        </p:txBody>
      </p:sp>
      <p:sp>
        <p:nvSpPr>
          <p:cNvPr id="15" name="ablation chart card"/>
          <p:cNvSpPr/>
          <p:nvPr/>
        </p:nvSpPr>
        <p:spPr>
          <a:xfrm>
            <a:off x="5394960" y="1783080"/>
            <a:ext cx="6217920" cy="4343400"/>
          </a:xfrm>
          <a:prstGeom prst="roundRect">
            <a:avLst>
              <a:gd name="adj" fmla="val 1684"/>
            </a:avLst>
          </a:prstGeom>
          <a:solidFill>
            <a:schemeClr val="bg2"/>
          </a:solidFill>
          <a:ln w="9525">
            <a:solidFill>
              <a:schemeClr val="accent6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5669280" y="20116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POINT MARGIN VS TRUMPCOUNT · 200K GAMES</a:t>
            </a:r>
            <a:endParaRPr lang="en-US" sz="1100" dirty="0"/>
          </a:p>
        </p:txBody>
      </p:sp>
      <p:graphicFrame>
        <p:nvGraphicFramePr>
          <p:cNvPr id="17" name="ablation chart" descr=""/>
          <p:cNvGraphicFramePr/>
          <p:nvPr/>
        </p:nvGraphicFramePr>
        <p:xfrm>
          <a:off x="5577840" y="2331720"/>
          <a:ext cx="5852160" cy="36576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09960" y="638251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tx2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548640" y="384048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 / RESULTS</a:t>
            </a:r>
            <a:endParaRPr lang="en-US" sz="12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713232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tx1"/>
                </a:solidFill>
              </a:rPr>
              <a:t>The agent wins 83% of full games against Random</a:t>
            </a:r>
            <a:endParaRPr lang="en-US" sz="3400" dirty="0"/>
          </a:p>
        </p:txBody>
      </p:sp>
      <p:sp>
        <p:nvSpPr>
          <p:cNvPr id="4" name="games won vs Random"/>
          <p:cNvSpPr/>
          <p:nvPr/>
        </p:nvSpPr>
        <p:spPr>
          <a:xfrm>
            <a:off x="548640" y="1783080"/>
            <a:ext cx="2606040" cy="1691640"/>
          </a:xfrm>
          <a:prstGeom prst="roundRect">
            <a:avLst>
              <a:gd name="adj" fmla="val 4324"/>
            </a:avLst>
          </a:prstGeom>
          <a:solidFill>
            <a:schemeClr val="bg2"/>
          </a:solidFill>
          <a:ln w="9525">
            <a:solidFill>
              <a:schemeClr val="accent6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77240" y="1920240"/>
            <a:ext cx="21945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83%</a:t>
            </a:r>
            <a:endParaRPr lang="en-US" sz="4000" dirty="0"/>
          </a:p>
        </p:txBody>
      </p:sp>
      <p:sp>
        <p:nvSpPr>
          <p:cNvPr id="6" name="Text 4"/>
          <p:cNvSpPr txBox="1"/>
          <p:nvPr/>
        </p:nvSpPr>
        <p:spPr>
          <a:xfrm>
            <a:off x="777240" y="2724912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of games vs Random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777240" y="3072384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tx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63% of rounds</a:t>
            </a:r>
            <a:endParaRPr lang="en-US" sz="1000" dirty="0"/>
          </a:p>
        </p:txBody>
      </p:sp>
      <p:sp>
        <p:nvSpPr>
          <p:cNvPr id="8" name="games won vs Heuristic"/>
          <p:cNvSpPr/>
          <p:nvPr/>
        </p:nvSpPr>
        <p:spPr>
          <a:xfrm>
            <a:off x="3360420" y="1783080"/>
            <a:ext cx="2606040" cy="1691640"/>
          </a:xfrm>
          <a:prstGeom prst="roundRect">
            <a:avLst>
              <a:gd name="adj" fmla="val 4324"/>
            </a:avLst>
          </a:prstGeom>
          <a:solidFill>
            <a:schemeClr val="bg2"/>
          </a:solidFill>
          <a:ln w="9525">
            <a:solidFill>
              <a:schemeClr val="accent6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589020" y="1920240"/>
            <a:ext cx="21945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72%</a:t>
            </a:r>
            <a:endParaRPr lang="en-US" sz="4000" dirty="0"/>
          </a:p>
        </p:txBody>
      </p:sp>
      <p:sp>
        <p:nvSpPr>
          <p:cNvPr id="10" name="Text 8"/>
          <p:cNvSpPr txBox="1"/>
          <p:nvPr/>
        </p:nvSpPr>
        <p:spPr>
          <a:xfrm>
            <a:off x="3589020" y="2724912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of games vs Heuristic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3589020" y="3072384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tx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59% of rounds</a:t>
            </a:r>
            <a:endParaRPr lang="en-US" sz="1000" dirty="0"/>
          </a:p>
        </p:txBody>
      </p:sp>
      <p:sp>
        <p:nvSpPr>
          <p:cNvPr id="12" name="games won vs VoidExploit"/>
          <p:cNvSpPr/>
          <p:nvPr/>
        </p:nvSpPr>
        <p:spPr>
          <a:xfrm>
            <a:off x="6172200" y="1783080"/>
            <a:ext cx="2606040" cy="1691640"/>
          </a:xfrm>
          <a:prstGeom prst="roundRect">
            <a:avLst>
              <a:gd name="adj" fmla="val 4324"/>
            </a:avLst>
          </a:prstGeom>
          <a:solidFill>
            <a:schemeClr val="bg2"/>
          </a:solidFill>
          <a:ln w="9525">
            <a:solidFill>
              <a:schemeClr val="accent6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400800" y="1920240"/>
            <a:ext cx="21945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64%</a:t>
            </a:r>
            <a:endParaRPr lang="en-US" sz="4000" dirty="0"/>
          </a:p>
        </p:txBody>
      </p:sp>
      <p:sp>
        <p:nvSpPr>
          <p:cNvPr id="14" name="Text 12"/>
          <p:cNvSpPr txBox="1"/>
          <p:nvPr/>
        </p:nvSpPr>
        <p:spPr>
          <a:xfrm>
            <a:off x="6400800" y="2724912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of games vs VoidExploit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6400800" y="3072384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tx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56% of rounds</a:t>
            </a:r>
            <a:endParaRPr lang="en-US" sz="1000" dirty="0"/>
          </a:p>
        </p:txBody>
      </p:sp>
      <p:sp>
        <p:nvSpPr>
          <p:cNvPr id="16" name="games won vs TrumpCount"/>
          <p:cNvSpPr/>
          <p:nvPr/>
        </p:nvSpPr>
        <p:spPr>
          <a:xfrm>
            <a:off x="8983980" y="1783080"/>
            <a:ext cx="2606040" cy="1691640"/>
          </a:xfrm>
          <a:prstGeom prst="roundRect">
            <a:avLst>
              <a:gd name="adj" fmla="val 4324"/>
            </a:avLst>
          </a:prstGeom>
          <a:solidFill>
            <a:schemeClr val="bg2"/>
          </a:solidFill>
          <a:ln w="9525">
            <a:solidFill>
              <a:schemeClr val="accent6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9212580" y="1920240"/>
            <a:ext cx="21945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62%</a:t>
            </a:r>
            <a:endParaRPr lang="en-US" sz="4000" dirty="0"/>
          </a:p>
        </p:txBody>
      </p:sp>
      <p:sp>
        <p:nvSpPr>
          <p:cNvPr id="18" name="Text 16"/>
          <p:cNvSpPr txBox="1"/>
          <p:nvPr/>
        </p:nvSpPr>
        <p:spPr>
          <a:xfrm>
            <a:off x="9212580" y="2724912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of games vs TrumpCount</a:t>
            </a:r>
            <a:endParaRPr lang="en-US" sz="1400" dirty="0"/>
          </a:p>
        </p:txBody>
      </p:sp>
      <p:sp>
        <p:nvSpPr>
          <p:cNvPr id="19" name="Text 17"/>
          <p:cNvSpPr txBox="1"/>
          <p:nvPr/>
        </p:nvSpPr>
        <p:spPr>
          <a:xfrm>
            <a:off x="9212580" y="3072384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tx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56% of rounds</a:t>
            </a:r>
            <a:endParaRPr lang="en-US" sz="1000" dirty="0"/>
          </a:p>
        </p:txBody>
      </p:sp>
      <p:sp>
        <p:nvSpPr>
          <p:cNvPr id="20" name="games vs random chart card"/>
          <p:cNvSpPr/>
          <p:nvPr/>
        </p:nvSpPr>
        <p:spPr>
          <a:xfrm>
            <a:off x="548640" y="3703320"/>
            <a:ext cx="6949440" cy="2423160"/>
          </a:xfrm>
          <a:prstGeom prst="roundRect">
            <a:avLst>
              <a:gd name="adj" fmla="val 3019"/>
            </a:avLst>
          </a:prstGeom>
          <a:solidFill>
            <a:schemeClr val="bg2"/>
          </a:solidFill>
          <a:ln w="9525">
            <a:solidFill>
              <a:schemeClr val="accent6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822960" y="388620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GAMES WON AGAINST RANDOM · FIRST TO 501</a:t>
            </a:r>
            <a:endParaRPr lang="en-US" sz="1100" dirty="0"/>
          </a:p>
        </p:txBody>
      </p:sp>
      <p:graphicFrame>
        <p:nvGraphicFramePr>
          <p:cNvPr id="22" name="games won vs random chart" descr=""/>
          <p:cNvGraphicFramePr/>
          <p:nvPr/>
        </p:nvGraphicFramePr>
        <p:xfrm>
          <a:off x="685800" y="4160520"/>
          <a:ext cx="6675120" cy="18745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23" name="games takeaway card"/>
          <p:cNvSpPr/>
          <p:nvPr/>
        </p:nvSpPr>
        <p:spPr>
          <a:xfrm>
            <a:off x="7772400" y="3703320"/>
            <a:ext cx="3840480" cy="2423160"/>
          </a:xfrm>
          <a:prstGeom prst="roundRect">
            <a:avLst>
              <a:gd name="adj" fmla="val 3019"/>
            </a:avLst>
          </a:prstGeom>
          <a:solidFill>
            <a:schemeClr val="bg2"/>
          </a:solidFill>
          <a:ln w="9525">
            <a:solidFill>
              <a:schemeClr val="accent6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8046720" y="388620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WHAT IT MEANS</a:t>
            </a:r>
            <a:endParaRPr lang="en-US" sz="1100" dirty="0"/>
          </a:p>
        </p:txBody>
      </p:sp>
      <p:sp>
        <p:nvSpPr>
          <p:cNvPr id="25" name="Text 22"/>
          <p:cNvSpPr txBox="1"/>
          <p:nvPr/>
        </p:nvSpPr>
        <p:spPr>
          <a:xfrm>
            <a:off x="8046720" y="4251960"/>
            <a:ext cx="33832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Beats all four baselines over full games, </a:t>
            </a:r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including our best heuristic (62%).</a:t>
            </a:r>
            <a:endParaRPr lang="en-US" sz="1300" dirty="0"/>
          </a:p>
          <a:p>
            <a:pPr indent="0" marL="0">
              <a:buNone/>
            </a:pPr>
            <a:r>
              <a:rPr lang="en-US" sz="600" dirty="0">
                <a:solidFill>
                  <a:schemeClr val="tx1"/>
                </a:solidFill>
              </a:rPr>
              <a:t> 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Wins more often against Random than TrumpCount does (83% vs 72%).</a:t>
            </a:r>
            <a:endParaRPr lang="en-US" sz="1300" dirty="0"/>
          </a:p>
        </p:txBody>
      </p:sp>
      <p:sp>
        <p:nvSpPr>
          <p:cNvPr id="26" name="Text 23"/>
          <p:cNvSpPr txBox="1"/>
          <p:nvPr/>
        </p:nvSpPr>
        <p:spPr>
          <a:xfrm>
            <a:off x="8046720" y="5623560"/>
            <a:ext cx="3383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chemeClr val="tx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* sees the opponent's hand · 1 000 duplicate games per match-up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09960" y="638251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tx2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548640" y="384048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11 / WHY 63%?</a:t>
            </a:r>
            <a:endParaRPr lang="en-US" sz="12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713232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tx1"/>
                </a:solidFill>
              </a:rPr>
              <a:t>83% of games, but only 63% of rounds — why?</a:t>
            </a:r>
            <a:endParaRPr lang="en-US" sz="3400" dirty="0"/>
          </a:p>
        </p:txBody>
      </p:sp>
      <p:sp>
        <p:nvSpPr>
          <p:cNvPr id="4" name="reasoning card"/>
          <p:cNvSpPr/>
          <p:nvPr/>
        </p:nvSpPr>
        <p:spPr>
          <a:xfrm>
            <a:off x="548640" y="1783080"/>
            <a:ext cx="5029200" cy="4343400"/>
          </a:xfrm>
          <a:prstGeom prst="roundRect">
            <a:avLst>
              <a:gd name="adj" fmla="val 1684"/>
            </a:avLst>
          </a:prstGeom>
          <a:solidFill>
            <a:schemeClr val="bg2"/>
          </a:solidFill>
          <a:ln w="9525">
            <a:solidFill>
              <a:schemeClr val="accent6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22960" y="20116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OUR REASONING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2395728"/>
            <a:ext cx="502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01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1371600" y="2395728"/>
            <a:ext cx="4023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It felt much stronger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1371600" y="2724912"/>
            <a:ext cx="4023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Playing against it ourselves, we lost most games: 63% of rounds won vs Random looked far too low.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822960" y="3310128"/>
            <a:ext cx="502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02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1371600" y="3310128"/>
            <a:ext cx="4023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We built a cheater</a:t>
            </a:r>
            <a:endParaRPr lang="en-US" sz="1500" dirty="0"/>
          </a:p>
        </p:txBody>
      </p:sp>
      <p:sp>
        <p:nvSpPr>
          <p:cNvPr id="11" name="Text 9"/>
          <p:cNvSpPr txBox="1"/>
          <p:nvPr/>
        </p:nvSpPr>
        <p:spPr>
          <a:xfrm>
            <a:off x="1371600" y="3639312"/>
            <a:ext cx="4023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It sees the opponent's hand and plays optimally — yet wins only 76% of rounds vs Random.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822960" y="4224528"/>
            <a:ext cx="502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03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1371600" y="4224528"/>
            <a:ext cx="4023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Luck dominates one round</a:t>
            </a:r>
            <a:endParaRPr lang="en-US" sz="1500" dirty="0"/>
          </a:p>
        </p:txBody>
      </p:sp>
      <p:sp>
        <p:nvSpPr>
          <p:cNvPr id="14" name="Text 12"/>
          <p:cNvSpPr txBox="1"/>
          <p:nvPr/>
        </p:nvSpPr>
        <p:spPr>
          <a:xfrm>
            <a:off x="1371600" y="4553712"/>
            <a:ext cx="4023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Even perfect information cannot rescue a bad hand.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822960" y="5138928"/>
            <a:ext cx="502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04</a:t>
            </a:r>
            <a:endParaRPr lang="en-US" sz="1500" dirty="0"/>
          </a:p>
        </p:txBody>
      </p:sp>
      <p:sp>
        <p:nvSpPr>
          <p:cNvPr id="16" name="Text 14"/>
          <p:cNvSpPr txBox="1"/>
          <p:nvPr/>
        </p:nvSpPr>
        <p:spPr>
          <a:xfrm>
            <a:off x="1371600" y="5138928"/>
            <a:ext cx="4023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Evaluate like real Belote</a:t>
            </a:r>
            <a:endParaRPr lang="en-US" sz="1500" dirty="0"/>
          </a:p>
        </p:txBody>
      </p:sp>
      <p:sp>
        <p:nvSpPr>
          <p:cNvPr id="17" name="Text 15"/>
          <p:cNvSpPr txBox="1"/>
          <p:nvPr/>
        </p:nvSpPr>
        <p:spPr>
          <a:xfrm>
            <a:off x="1371600" y="5468112"/>
            <a:ext cx="4023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Full games, first to 501 points (~10 rounds): luck averages out.</a:t>
            </a:r>
            <a:endParaRPr lang="en-US" sz="1200" dirty="0"/>
          </a:p>
        </p:txBody>
      </p:sp>
      <p:sp>
        <p:nvSpPr>
          <p:cNvPr id="18" name="full games table card"/>
          <p:cNvSpPr/>
          <p:nvPr/>
        </p:nvSpPr>
        <p:spPr>
          <a:xfrm>
            <a:off x="5852160" y="1783080"/>
            <a:ext cx="5760720" cy="4343400"/>
          </a:xfrm>
          <a:prstGeom prst="roundRect">
            <a:avLst>
              <a:gd name="adj" fmla="val 1684"/>
            </a:avLst>
          </a:prstGeom>
          <a:solidFill>
            <a:schemeClr val="bg2"/>
          </a:solidFill>
          <a:ln w="9525">
            <a:solidFill>
              <a:schemeClr val="accent6"/>
            </a:solidFill>
            <a:prstDash val="solid"/>
          </a:ln>
        </p:spPr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080760" y="2011680"/>
          <a:ext cx="5303520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1188720"/>
                <a:gridCol w="1371600"/>
              </a:tblGrid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8C99A8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MATCH-UP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24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4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4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4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92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8C99A8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ROUNDS WON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24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4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4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4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92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2DE2A6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GAMES WON (501)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24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4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4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4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922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BF0"/>
                          </a:solidFill>
                        </a:rPr>
                        <a:t>Random vs Random</a:t>
                      </a:r>
                      <a:endParaRPr lang="en-US" sz="13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24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4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4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4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92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E6EBF0"/>
                          </a:solidFill>
                        </a:rPr>
                        <a:t>50%</a:t>
                      </a:r>
                      <a:endParaRPr lang="en-US" sz="13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24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4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4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4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92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E6EBF0"/>
                          </a:solidFill>
                        </a:rPr>
                        <a:t>51%</a:t>
                      </a:r>
                      <a:endParaRPr lang="en-US" sz="13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24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4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4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4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922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BF0"/>
                          </a:solidFill>
                        </a:rPr>
                        <a:t>Heuristic vs Random</a:t>
                      </a:r>
                      <a:endParaRPr lang="en-US" sz="13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24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4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4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4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92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E6EBF0"/>
                          </a:solidFill>
                        </a:rPr>
                        <a:t>52%</a:t>
                      </a:r>
                      <a:endParaRPr lang="en-US" sz="13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24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4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4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4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92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E6EBF0"/>
                          </a:solidFill>
                        </a:rPr>
                        <a:t>62%</a:t>
                      </a:r>
                      <a:endParaRPr lang="en-US" sz="13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24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4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4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4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922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BF0"/>
                          </a:solidFill>
                        </a:rPr>
                        <a:t>TrumpCount vs Random</a:t>
                      </a:r>
                      <a:endParaRPr lang="en-US" sz="13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24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4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4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4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92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E6EBF0"/>
                          </a:solidFill>
                        </a:rPr>
                        <a:t>56%</a:t>
                      </a:r>
                      <a:endParaRPr lang="en-US" sz="13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24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4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4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4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92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E6EBF0"/>
                          </a:solidFill>
                        </a:rPr>
                        <a:t>72%</a:t>
                      </a:r>
                      <a:endParaRPr lang="en-US" sz="13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24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4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4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4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922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E6EBF0"/>
                          </a:solidFill>
                        </a:rPr>
                        <a:t>PPO vs Random</a:t>
                      </a:r>
                      <a:endParaRPr lang="en-US" sz="13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24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4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4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4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92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E6EBF0"/>
                          </a:solidFill>
                        </a:rPr>
                        <a:t>63%</a:t>
                      </a:r>
                      <a:endParaRPr lang="en-US" sz="13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24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4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4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4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92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2DE2A6"/>
                          </a:solidFill>
                        </a:rPr>
                        <a:t>83%</a:t>
                      </a:r>
                      <a:endParaRPr lang="en-US" sz="13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24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4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4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4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922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E6EBF0"/>
                          </a:solidFill>
                        </a:rPr>
                        <a:t>PPO vs Heuristic</a:t>
                      </a:r>
                      <a:endParaRPr lang="en-US" sz="13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24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4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4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4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92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E6EBF0"/>
                          </a:solidFill>
                        </a:rPr>
                        <a:t>59%</a:t>
                      </a:r>
                      <a:endParaRPr lang="en-US" sz="13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24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4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4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4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92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2DE2A6"/>
                          </a:solidFill>
                        </a:rPr>
                        <a:t>72%</a:t>
                      </a:r>
                      <a:endParaRPr lang="en-US" sz="13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24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4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4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4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922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E6EBF0"/>
                          </a:solidFill>
                        </a:rPr>
                        <a:t>PPO vs VoidExploit</a:t>
                      </a:r>
                      <a:endParaRPr lang="en-US" sz="13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24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4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4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4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92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E6EBF0"/>
                          </a:solidFill>
                        </a:rPr>
                        <a:t>56%</a:t>
                      </a:r>
                      <a:endParaRPr lang="en-US" sz="13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24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4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4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4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92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2DE2A6"/>
                          </a:solidFill>
                        </a:rPr>
                        <a:t>64%</a:t>
                      </a:r>
                      <a:endParaRPr lang="en-US" sz="13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24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4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4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4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922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E6EBF0"/>
                          </a:solidFill>
                        </a:rPr>
                        <a:t>PPO vs TrumpCount</a:t>
                      </a:r>
                      <a:endParaRPr lang="en-US" sz="13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24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4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4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4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92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E6EBF0"/>
                          </a:solidFill>
                        </a:rPr>
                        <a:t>56%</a:t>
                      </a:r>
                      <a:endParaRPr lang="en-US" sz="13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24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4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4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4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92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2DE2A6"/>
                          </a:solidFill>
                        </a:rPr>
                        <a:t>62%</a:t>
                      </a:r>
                      <a:endParaRPr lang="en-US" sz="13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24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4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4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4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922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i="1" dirty="0">
                          <a:solidFill>
                            <a:srgbClr val="8C99A8"/>
                          </a:solidFill>
                        </a:rPr>
                        <a:t>Cheater* vs Random</a:t>
                      </a:r>
                      <a:endParaRPr lang="en-US" sz="13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24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4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4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4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92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i="1" dirty="0">
                          <a:solidFill>
                            <a:srgbClr val="8C99A8"/>
                          </a:solidFill>
                        </a:rPr>
                        <a:t>76%</a:t>
                      </a:r>
                      <a:endParaRPr lang="en-US" sz="13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24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4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4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4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92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i="1" dirty="0">
                          <a:solidFill>
                            <a:srgbClr val="8C99A8"/>
                          </a:solidFill>
                        </a:rPr>
                        <a:t>99%</a:t>
                      </a:r>
                      <a:endParaRPr lang="en-US" sz="13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24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4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4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4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922"/>
                    </a:solidFill>
                  </a:tcPr>
                </a:tc>
              </a:tr>
            </a:tbl>
          </a:graphicData>
        </a:graphic>
      </p:graphicFrame>
      <p:sp>
        <p:nvSpPr>
          <p:cNvPr id="20" name="Text 17"/>
          <p:cNvSpPr txBox="1"/>
          <p:nvPr/>
        </p:nvSpPr>
        <p:spPr>
          <a:xfrm>
            <a:off x="6080760" y="5532120"/>
            <a:ext cx="5303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tx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* sees the opponent's hand and plays optimally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chemeClr val="tx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Duplicate games · 1 000 per match-up (400 for the cheater) · ±2 pp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09960" y="638251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tx2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548640" y="384048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12 / LEARNING CURVE</a:t>
            </a:r>
            <a:endParaRPr lang="en-US" sz="12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713232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tx1"/>
                </a:solidFill>
              </a:rPr>
              <a:t>Learning curve: fast gains, then a plateau</a:t>
            </a:r>
            <a:endParaRPr lang="en-US" sz="3400" dirty="0"/>
          </a:p>
        </p:txBody>
      </p:sp>
      <p:pic>
        <p:nvPicPr>
          <p:cNvPr id="4" name="point margin learning curve" descr="fig_point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783080"/>
            <a:ext cx="7754112" cy="4343400"/>
          </a:xfrm>
          <a:prstGeom prst="rect">
            <a:avLst/>
          </a:prstGeom>
        </p:spPr>
      </p:pic>
      <p:sp>
        <p:nvSpPr>
          <p:cNvPr id="5" name="final TrumpCount"/>
          <p:cNvSpPr/>
          <p:nvPr/>
        </p:nvSpPr>
        <p:spPr>
          <a:xfrm>
            <a:off x="8595360" y="1783080"/>
            <a:ext cx="3017520" cy="978408"/>
          </a:xfrm>
          <a:prstGeom prst="roundRect">
            <a:avLst>
              <a:gd name="adj" fmla="val 7477"/>
            </a:avLst>
          </a:prstGeom>
          <a:solidFill>
            <a:schemeClr val="bg2"/>
          </a:solidFill>
          <a:ln w="9525">
            <a:solidFill>
              <a:schemeClr val="accent6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8823960" y="1892808"/>
            <a:ext cx="1371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+5.0</a:t>
            </a:r>
            <a:endParaRPr lang="en-US" sz="2800" dirty="0"/>
          </a:p>
        </p:txBody>
      </p:sp>
      <p:sp>
        <p:nvSpPr>
          <p:cNvPr id="7" name="Text 4"/>
          <p:cNvSpPr txBox="1"/>
          <p:nvPr/>
        </p:nvSpPr>
        <p:spPr>
          <a:xfrm>
            <a:off x="10195560" y="1938528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vs TrumpCount</a:t>
            </a:r>
            <a:endParaRPr lang="en-US" sz="1300" dirty="0"/>
          </a:p>
        </p:txBody>
      </p:sp>
      <p:sp>
        <p:nvSpPr>
          <p:cNvPr id="8" name="Text 5"/>
          <p:cNvSpPr txBox="1"/>
          <p:nvPr/>
        </p:nvSpPr>
        <p:spPr>
          <a:xfrm>
            <a:off x="8823960" y="2423160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tx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62% of full games</a:t>
            </a:r>
            <a:endParaRPr lang="en-US" sz="1000" dirty="0"/>
          </a:p>
        </p:txBody>
      </p:sp>
      <p:sp>
        <p:nvSpPr>
          <p:cNvPr id="9" name="final VoidExploit"/>
          <p:cNvSpPr/>
          <p:nvPr/>
        </p:nvSpPr>
        <p:spPr>
          <a:xfrm>
            <a:off x="8595360" y="2898648"/>
            <a:ext cx="3017520" cy="978408"/>
          </a:xfrm>
          <a:prstGeom prst="roundRect">
            <a:avLst>
              <a:gd name="adj" fmla="val 7477"/>
            </a:avLst>
          </a:prstGeom>
          <a:solidFill>
            <a:schemeClr val="bg2"/>
          </a:solidFill>
          <a:ln w="9525">
            <a:solidFill>
              <a:schemeClr val="accent6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8823960" y="3008376"/>
            <a:ext cx="1371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+5.7</a:t>
            </a:r>
            <a:endParaRPr lang="en-US" sz="2200" dirty="0"/>
          </a:p>
        </p:txBody>
      </p:sp>
      <p:sp>
        <p:nvSpPr>
          <p:cNvPr id="11" name="Text 8"/>
          <p:cNvSpPr txBox="1"/>
          <p:nvPr/>
        </p:nvSpPr>
        <p:spPr>
          <a:xfrm>
            <a:off x="10195560" y="3054096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vs VoidExploit</a:t>
            </a:r>
            <a:endParaRPr lang="en-US" sz="1300" dirty="0"/>
          </a:p>
        </p:txBody>
      </p:sp>
      <p:sp>
        <p:nvSpPr>
          <p:cNvPr id="12" name="Text 9"/>
          <p:cNvSpPr txBox="1"/>
          <p:nvPr/>
        </p:nvSpPr>
        <p:spPr>
          <a:xfrm>
            <a:off x="8823960" y="3538728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tx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64% of full games</a:t>
            </a:r>
            <a:endParaRPr lang="en-US" sz="1000" dirty="0"/>
          </a:p>
        </p:txBody>
      </p:sp>
      <p:sp>
        <p:nvSpPr>
          <p:cNvPr id="13" name="final Heuristic"/>
          <p:cNvSpPr/>
          <p:nvPr/>
        </p:nvSpPr>
        <p:spPr>
          <a:xfrm>
            <a:off x="8595360" y="4014216"/>
            <a:ext cx="3017520" cy="978408"/>
          </a:xfrm>
          <a:prstGeom prst="roundRect">
            <a:avLst>
              <a:gd name="adj" fmla="val 7477"/>
            </a:avLst>
          </a:prstGeom>
          <a:solidFill>
            <a:schemeClr val="bg2"/>
          </a:solidFill>
          <a:ln w="9525">
            <a:solidFill>
              <a:schemeClr val="accent6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8823960" y="4123944"/>
            <a:ext cx="1371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+8.3</a:t>
            </a:r>
            <a:endParaRPr lang="en-US" sz="2200" dirty="0"/>
          </a:p>
        </p:txBody>
      </p:sp>
      <p:sp>
        <p:nvSpPr>
          <p:cNvPr id="15" name="Text 12"/>
          <p:cNvSpPr txBox="1"/>
          <p:nvPr/>
        </p:nvSpPr>
        <p:spPr>
          <a:xfrm>
            <a:off x="10195560" y="4169664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vs Heuristic</a:t>
            </a:r>
            <a:endParaRPr lang="en-US" sz="1300" dirty="0"/>
          </a:p>
        </p:txBody>
      </p:sp>
      <p:sp>
        <p:nvSpPr>
          <p:cNvPr id="16" name="Text 13"/>
          <p:cNvSpPr txBox="1"/>
          <p:nvPr/>
        </p:nvSpPr>
        <p:spPr>
          <a:xfrm>
            <a:off x="8823960" y="4654296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tx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72% of full games</a:t>
            </a:r>
            <a:endParaRPr lang="en-US" sz="1000" dirty="0"/>
          </a:p>
        </p:txBody>
      </p:sp>
      <p:sp>
        <p:nvSpPr>
          <p:cNvPr id="17" name="final Random"/>
          <p:cNvSpPr/>
          <p:nvPr/>
        </p:nvSpPr>
        <p:spPr>
          <a:xfrm>
            <a:off x="8595360" y="5129784"/>
            <a:ext cx="3017520" cy="978408"/>
          </a:xfrm>
          <a:prstGeom prst="roundRect">
            <a:avLst>
              <a:gd name="adj" fmla="val 7477"/>
            </a:avLst>
          </a:prstGeom>
          <a:solidFill>
            <a:schemeClr val="bg2"/>
          </a:solidFill>
          <a:ln w="9525">
            <a:solidFill>
              <a:schemeClr val="accent6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8823960" y="5239512"/>
            <a:ext cx="1371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+12.5</a:t>
            </a:r>
            <a:endParaRPr lang="en-US" sz="2200" dirty="0"/>
          </a:p>
        </p:txBody>
      </p:sp>
      <p:sp>
        <p:nvSpPr>
          <p:cNvPr id="19" name="Text 16"/>
          <p:cNvSpPr txBox="1"/>
          <p:nvPr/>
        </p:nvSpPr>
        <p:spPr>
          <a:xfrm>
            <a:off x="10195560" y="5285232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vs Random</a:t>
            </a:r>
            <a:endParaRPr lang="en-US" sz="1300" dirty="0"/>
          </a:p>
        </p:txBody>
      </p:sp>
      <p:sp>
        <p:nvSpPr>
          <p:cNvPr id="20" name="Text 17"/>
          <p:cNvSpPr txBox="1"/>
          <p:nvPr/>
        </p:nvSpPr>
        <p:spPr>
          <a:xfrm>
            <a:off x="8823960" y="5769864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tx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83% of full games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09960" y="638251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tx2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548640" y="384048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13 / REPRODUCIBILITY</a:t>
            </a:r>
            <a:endParaRPr lang="en-US" sz="12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713232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tx1"/>
                </a:solidFill>
              </a:rPr>
              <a:t>Three independent runs, the same result</a:t>
            </a:r>
            <a:endParaRPr lang="en-US" sz="3400" dirty="0"/>
          </a:p>
        </p:txBody>
      </p:sp>
      <p:pic>
        <p:nvPicPr>
          <p:cNvPr id="4" name="three seeds learning curves" descr="fig_seed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783080"/>
            <a:ext cx="7754112" cy="4343400"/>
          </a:xfrm>
          <a:prstGeom prst="rect">
            <a:avLst/>
          </a:prstGeom>
        </p:spPr>
      </p:pic>
      <p:sp>
        <p:nvSpPr>
          <p:cNvPr id="5" name="seeds table card"/>
          <p:cNvSpPr/>
          <p:nvPr/>
        </p:nvSpPr>
        <p:spPr>
          <a:xfrm>
            <a:off x="8595360" y="1783080"/>
            <a:ext cx="3017520" cy="2743200"/>
          </a:xfrm>
          <a:prstGeom prst="roundRect">
            <a:avLst>
              <a:gd name="adj" fmla="val 2667"/>
            </a:avLst>
          </a:prstGeom>
          <a:solidFill>
            <a:schemeClr val="bg2"/>
          </a:solidFill>
          <a:ln w="9525">
            <a:solidFill>
              <a:schemeClr val="accent6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8823960" y="196596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VS TRUMPCOUNT AT 2M GAMES</a:t>
            </a:r>
            <a:endParaRPr lang="en-US" sz="1100" dirty="0"/>
          </a:p>
        </p:txBody>
      </p:sp>
      <p:sp>
        <p:nvSpPr>
          <p:cNvPr id="7" name="Text 4"/>
          <p:cNvSpPr txBox="1"/>
          <p:nvPr/>
        </p:nvSpPr>
        <p:spPr>
          <a:xfrm>
            <a:off x="8823960" y="2377440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Run 1</a:t>
            </a:r>
            <a:endParaRPr lang="en-US" sz="1400" dirty="0"/>
          </a:p>
        </p:txBody>
      </p:sp>
      <p:sp>
        <p:nvSpPr>
          <p:cNvPr id="8" name="Text 5"/>
          <p:cNvSpPr txBox="1"/>
          <p:nvPr/>
        </p:nvSpPr>
        <p:spPr>
          <a:xfrm>
            <a:off x="9692640" y="2377440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+4.35</a:t>
            </a:r>
            <a:endParaRPr lang="en-US" sz="1400" dirty="0"/>
          </a:p>
        </p:txBody>
      </p:sp>
      <p:sp>
        <p:nvSpPr>
          <p:cNvPr id="9" name="Text 6"/>
          <p:cNvSpPr txBox="1"/>
          <p:nvPr/>
        </p:nvSpPr>
        <p:spPr>
          <a:xfrm>
            <a:off x="8823960" y="2834640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Run 2</a:t>
            </a:r>
            <a:endParaRPr lang="en-US" sz="1400" dirty="0"/>
          </a:p>
        </p:txBody>
      </p:sp>
      <p:sp>
        <p:nvSpPr>
          <p:cNvPr id="10" name="Text 7"/>
          <p:cNvSpPr txBox="1"/>
          <p:nvPr/>
        </p:nvSpPr>
        <p:spPr>
          <a:xfrm>
            <a:off x="9692640" y="2834640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+4.94</a:t>
            </a:r>
            <a:endParaRPr lang="en-US" sz="1400" dirty="0"/>
          </a:p>
        </p:txBody>
      </p:sp>
      <p:sp>
        <p:nvSpPr>
          <p:cNvPr id="11" name="Text 8"/>
          <p:cNvSpPr txBox="1"/>
          <p:nvPr/>
        </p:nvSpPr>
        <p:spPr>
          <a:xfrm>
            <a:off x="8823960" y="3291840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Run 3</a:t>
            </a:r>
            <a:endParaRPr lang="en-US" sz="1400" dirty="0"/>
          </a:p>
        </p:txBody>
      </p:sp>
      <p:sp>
        <p:nvSpPr>
          <p:cNvPr id="12" name="Text 9"/>
          <p:cNvSpPr txBox="1"/>
          <p:nvPr/>
        </p:nvSpPr>
        <p:spPr>
          <a:xfrm>
            <a:off x="9692640" y="3291840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+5.06</a:t>
            </a:r>
            <a:endParaRPr lang="en-US" sz="1400" dirty="0"/>
          </a:p>
        </p:txBody>
      </p:sp>
      <p:sp>
        <p:nvSpPr>
          <p:cNvPr id="13" name="Text 10"/>
          <p:cNvSpPr txBox="1"/>
          <p:nvPr/>
        </p:nvSpPr>
        <p:spPr>
          <a:xfrm>
            <a:off x="8823960" y="3840480"/>
            <a:ext cx="2651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tx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points per round · ±0.4 pts each</a:t>
            </a:r>
            <a:endParaRPr lang="en-US" sz="1000" dirty="0"/>
          </a:p>
        </p:txBody>
      </p:sp>
      <p:sp>
        <p:nvSpPr>
          <p:cNvPr id="14" name="seeds mean card"/>
          <p:cNvSpPr/>
          <p:nvPr/>
        </p:nvSpPr>
        <p:spPr>
          <a:xfrm>
            <a:off x="8595360" y="4709160"/>
            <a:ext cx="3017520" cy="1417320"/>
          </a:xfrm>
          <a:prstGeom prst="roundRect">
            <a:avLst>
              <a:gd name="adj" fmla="val 5161"/>
            </a:avLst>
          </a:prstGeom>
          <a:solidFill>
            <a:schemeClr val="bg2"/>
          </a:solidFill>
          <a:ln w="9525">
            <a:solidFill>
              <a:schemeClr val="accent6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8823960" y="4846320"/>
            <a:ext cx="26517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+4.8</a:t>
            </a:r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±0.4</a:t>
            </a:r>
            <a:endParaRPr lang="en-US" sz="3000" dirty="0"/>
          </a:p>
        </p:txBody>
      </p:sp>
      <p:sp>
        <p:nvSpPr>
          <p:cNvPr id="16" name="Text 13"/>
          <p:cNvSpPr txBox="1"/>
          <p:nvPr/>
        </p:nvSpPr>
        <p:spPr>
          <a:xfrm>
            <a:off x="8823960" y="5440680"/>
            <a:ext cx="26517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mean across seeds — the spread is no larger than measurement noise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09960" y="638251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tx2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548640" y="384048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14 / SELF-PLAY</a:t>
            </a:r>
            <a:endParaRPr lang="en-US" sz="12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713232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tx1"/>
                </a:solidFill>
              </a:rPr>
              <a:t>Real progress in self-play — until ~2M games</a:t>
            </a:r>
            <a:endParaRPr lang="en-US" sz="3400" dirty="0"/>
          </a:p>
        </p:txBody>
      </p:sp>
      <p:sp>
        <p:nvSpPr>
          <p:cNvPr id="4" name="checkpoint chart card"/>
          <p:cNvSpPr/>
          <p:nvPr/>
        </p:nvSpPr>
        <p:spPr>
          <a:xfrm>
            <a:off x="548640" y="1783080"/>
            <a:ext cx="6949440" cy="4343400"/>
          </a:xfrm>
          <a:prstGeom prst="roundRect">
            <a:avLst>
              <a:gd name="adj" fmla="val 1684"/>
            </a:avLst>
          </a:prstGeom>
          <a:solidFill>
            <a:schemeClr val="bg2"/>
          </a:solidFill>
          <a:ln w="9525">
            <a:solidFill>
              <a:schemeClr val="accent6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22960" y="20116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FINAL AGENT VS ITS OWN EARLIER VERSIONS</a:t>
            </a:r>
            <a:endParaRPr lang="en-US" sz="1100" dirty="0"/>
          </a:p>
        </p:txBody>
      </p:sp>
      <p:graphicFrame>
        <p:nvGraphicFramePr>
          <p:cNvPr id="6" name="checkpoint chart" descr=""/>
          <p:cNvGraphicFramePr/>
          <p:nvPr/>
        </p:nvGraphicFramePr>
        <p:xfrm>
          <a:off x="685800" y="2331720"/>
          <a:ext cx="6675120" cy="35204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7" name="Text 4"/>
          <p:cNvSpPr txBox="1"/>
          <p:nvPr/>
        </p:nvSpPr>
        <p:spPr>
          <a:xfrm>
            <a:off x="822960" y="580644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Opponent checkpoint (training games) · 1 000 duplicate deals each · ±0.5–0.9 pts</a:t>
            </a:r>
            <a:endParaRPr lang="en-US" sz="1100" dirty="0"/>
          </a:p>
        </p:txBody>
      </p:sp>
      <p:sp>
        <p:nvSpPr>
          <p:cNvPr id="8" name="plateau takeaway card"/>
          <p:cNvSpPr/>
          <p:nvPr/>
        </p:nvSpPr>
        <p:spPr>
          <a:xfrm>
            <a:off x="7772400" y="1783080"/>
            <a:ext cx="3840480" cy="4343400"/>
          </a:xfrm>
          <a:prstGeom prst="roundRect">
            <a:avLst>
              <a:gd name="adj" fmla="val 1905"/>
            </a:avLst>
          </a:prstGeom>
          <a:solidFill>
            <a:schemeClr val="bg2"/>
          </a:solidFill>
          <a:ln w="9525">
            <a:solidFill>
              <a:schemeClr val="accent6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8046720" y="20116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TAKEAWAYS</a:t>
            </a:r>
            <a:endParaRPr lang="en-US" sz="1100" dirty="0"/>
          </a:p>
        </p:txBody>
      </p:sp>
      <p:sp>
        <p:nvSpPr>
          <p:cNvPr id="10" name="Text 7"/>
          <p:cNvSpPr txBox="1"/>
          <p:nvPr/>
        </p:nvSpPr>
        <p:spPr>
          <a:xfrm>
            <a:off x="8046720" y="2423160"/>
            <a:ext cx="338328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It improves against itself, </a:t>
            </a:r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not only against our heuristics.</a:t>
            </a:r>
            <a:endParaRPr lang="en-US" sz="1400" dirty="0"/>
          </a:p>
          <a:p>
            <a:pPr indent="0" marL="0">
              <a:buNone/>
            </a:pPr>
            <a:r>
              <a:rPr lang="en-US" sz="800" dirty="0">
                <a:solidFill>
                  <a:schemeClr val="tx1"/>
                </a:solidFill>
              </a:rPr>
              <a:t> </a:t>
            </a:r>
            <a:endParaRPr lang="en-US" sz="1400" dirty="0"/>
          </a:p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Gains shrink, then stop near 1.5–2M games: </a:t>
            </a:r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the last million added nothing.</a:t>
            </a:r>
            <a:endParaRPr lang="en-US" sz="1400" dirty="0"/>
          </a:p>
          <a:p>
            <a:pPr indent="0" marL="0">
              <a:buNone/>
            </a:pPr>
            <a:r>
              <a:rPr lang="en-US" sz="800" dirty="0">
                <a:solidFill>
                  <a:schemeClr val="tx1"/>
                </a:solidFill>
              </a:rPr>
              <a:t> </a:t>
            </a:r>
            <a:endParaRPr lang="en-US" sz="1400" dirty="0"/>
          </a:p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Going further needs a better agent </a:t>
            </a:r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(memory, bigger net, league self-play), not longer training.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09960" y="638251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tx2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548640" y="384048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15 / BEHAVIOUR</a:t>
            </a:r>
            <a:endParaRPr lang="en-US" sz="12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713232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tx1"/>
                </a:solidFill>
              </a:rPr>
              <a:t>What the agent learned on its own</a:t>
            </a:r>
            <a:endParaRPr lang="en-US" sz="3400" dirty="0"/>
          </a:p>
        </p:txBody>
      </p:sp>
      <p:sp>
        <p:nvSpPr>
          <p:cNvPr id="4" name="good deal card"/>
          <p:cNvSpPr/>
          <p:nvPr/>
        </p:nvSpPr>
        <p:spPr>
          <a:xfrm>
            <a:off x="548640" y="1783080"/>
            <a:ext cx="6949440" cy="4343400"/>
          </a:xfrm>
          <a:prstGeom prst="roundRect">
            <a:avLst>
              <a:gd name="adj" fmla="val 1684"/>
            </a:avLst>
          </a:prstGeom>
          <a:solidFill>
            <a:schemeClr val="bg2"/>
          </a:solidFill>
          <a:ln w="9525">
            <a:solidFill>
              <a:schemeClr val="accent6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22960" y="20116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SAME HAND, TWO PLAYERS · TRUMP ♦</a:t>
            </a:r>
            <a:endParaRPr lang="en-US" sz="1100" dirty="0"/>
          </a:p>
        </p:txBody>
      </p:sp>
      <p:sp>
        <p:nvSpPr>
          <p:cNvPr id="6" name="card 8D"/>
          <p:cNvSpPr/>
          <p:nvPr/>
        </p:nvSpPr>
        <p:spPr>
          <a:xfrm>
            <a:off x="822960" y="2377440"/>
            <a:ext cx="566928" cy="786384"/>
          </a:xfrm>
          <a:prstGeom prst="roundRect">
            <a:avLst>
              <a:gd name="adj" fmla="val 9677"/>
            </a:avLst>
          </a:prstGeom>
          <a:solidFill>
            <a:srgbClr val="F4F6F8"/>
          </a:solidFill>
          <a:ln w="9525">
            <a:solidFill>
              <a:srgbClr val="C9D1D9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22960" y="2414016"/>
            <a:ext cx="56692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C828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1500" dirty="0"/>
          </a:p>
          <a:p>
            <a:pPr algn="ctr" indent="0" marL="0">
              <a:buNone/>
            </a:pPr>
            <a:r>
              <a:rPr lang="en-US" sz="1700" dirty="0">
                <a:solidFill>
                  <a:srgbClr val="C828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♦</a:t>
            </a:r>
            <a:endParaRPr lang="en-US" sz="1500" dirty="0"/>
          </a:p>
        </p:txBody>
      </p:sp>
      <p:sp>
        <p:nvSpPr>
          <p:cNvPr id="8" name="card QD"/>
          <p:cNvSpPr/>
          <p:nvPr/>
        </p:nvSpPr>
        <p:spPr>
          <a:xfrm>
            <a:off x="1463040" y="2377440"/>
            <a:ext cx="566928" cy="786384"/>
          </a:xfrm>
          <a:prstGeom prst="roundRect">
            <a:avLst>
              <a:gd name="adj" fmla="val 9677"/>
            </a:avLst>
          </a:prstGeom>
          <a:solidFill>
            <a:srgbClr val="F4F6F8"/>
          </a:solidFill>
          <a:ln w="28575">
            <a:solidFill>
              <a:srgbClr val="2DE2A6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1463040" y="2414016"/>
            <a:ext cx="56692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C828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</a:t>
            </a:r>
            <a:endParaRPr lang="en-US" sz="1500" dirty="0"/>
          </a:p>
          <a:p>
            <a:pPr algn="ctr" indent="0" marL="0">
              <a:buNone/>
            </a:pPr>
            <a:r>
              <a:rPr lang="en-US" sz="1700" dirty="0">
                <a:solidFill>
                  <a:srgbClr val="C828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♦</a:t>
            </a:r>
            <a:endParaRPr lang="en-US" sz="1500" dirty="0"/>
          </a:p>
        </p:txBody>
      </p:sp>
      <p:sp>
        <p:nvSpPr>
          <p:cNvPr id="10" name="card 10D"/>
          <p:cNvSpPr/>
          <p:nvPr/>
        </p:nvSpPr>
        <p:spPr>
          <a:xfrm>
            <a:off x="2103120" y="2377440"/>
            <a:ext cx="566928" cy="786384"/>
          </a:xfrm>
          <a:prstGeom prst="roundRect">
            <a:avLst>
              <a:gd name="adj" fmla="val 9677"/>
            </a:avLst>
          </a:prstGeom>
          <a:solidFill>
            <a:srgbClr val="F4F6F8"/>
          </a:solidFill>
          <a:ln w="28575">
            <a:solidFill>
              <a:srgbClr val="2DE2A6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2103120" y="2414016"/>
            <a:ext cx="56692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C828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500" dirty="0"/>
          </a:p>
          <a:p>
            <a:pPr algn="ctr" indent="0" marL="0">
              <a:buNone/>
            </a:pPr>
            <a:r>
              <a:rPr lang="en-US" sz="1700" dirty="0">
                <a:solidFill>
                  <a:srgbClr val="C828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♦</a:t>
            </a:r>
            <a:endParaRPr lang="en-US" sz="1500" dirty="0"/>
          </a:p>
        </p:txBody>
      </p:sp>
      <p:sp>
        <p:nvSpPr>
          <p:cNvPr id="12" name="card AD"/>
          <p:cNvSpPr/>
          <p:nvPr/>
        </p:nvSpPr>
        <p:spPr>
          <a:xfrm>
            <a:off x="2743200" y="2377440"/>
            <a:ext cx="566928" cy="786384"/>
          </a:xfrm>
          <a:prstGeom prst="roundRect">
            <a:avLst>
              <a:gd name="adj" fmla="val 9677"/>
            </a:avLst>
          </a:prstGeom>
          <a:solidFill>
            <a:srgbClr val="F4F6F8"/>
          </a:solidFill>
          <a:ln w="28575">
            <a:solidFill>
              <a:srgbClr val="2DE2A6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2743200" y="2414016"/>
            <a:ext cx="56692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C828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500" dirty="0"/>
          </a:p>
          <a:p>
            <a:pPr algn="ctr" indent="0" marL="0">
              <a:buNone/>
            </a:pPr>
            <a:r>
              <a:rPr lang="en-US" sz="1700" dirty="0">
                <a:solidFill>
                  <a:srgbClr val="C828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♦</a:t>
            </a:r>
            <a:endParaRPr lang="en-US" sz="1500" dirty="0"/>
          </a:p>
        </p:txBody>
      </p:sp>
      <p:sp>
        <p:nvSpPr>
          <p:cNvPr id="14" name="card 7S"/>
          <p:cNvSpPr/>
          <p:nvPr/>
        </p:nvSpPr>
        <p:spPr>
          <a:xfrm>
            <a:off x="3383280" y="2377440"/>
            <a:ext cx="566928" cy="786384"/>
          </a:xfrm>
          <a:prstGeom prst="roundRect">
            <a:avLst>
              <a:gd name="adj" fmla="val 9677"/>
            </a:avLst>
          </a:prstGeom>
          <a:solidFill>
            <a:srgbClr val="F4F6F8"/>
          </a:solidFill>
          <a:ln w="9525">
            <a:solidFill>
              <a:srgbClr val="C9D1D9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3383280" y="2414016"/>
            <a:ext cx="56692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1161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1500" dirty="0"/>
          </a:p>
          <a:p>
            <a:pPr algn="ctr" indent="0" marL="0">
              <a:buNone/>
            </a:pPr>
            <a:r>
              <a:rPr lang="en-US" sz="1700" dirty="0">
                <a:solidFill>
                  <a:srgbClr val="11161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♠</a:t>
            </a:r>
            <a:endParaRPr lang="en-US" sz="1500" dirty="0"/>
          </a:p>
        </p:txBody>
      </p:sp>
      <p:sp>
        <p:nvSpPr>
          <p:cNvPr id="16" name="card 10H"/>
          <p:cNvSpPr/>
          <p:nvPr/>
        </p:nvSpPr>
        <p:spPr>
          <a:xfrm>
            <a:off x="4023360" y="2377440"/>
            <a:ext cx="566928" cy="786384"/>
          </a:xfrm>
          <a:prstGeom prst="roundRect">
            <a:avLst>
              <a:gd name="adj" fmla="val 9677"/>
            </a:avLst>
          </a:prstGeom>
          <a:solidFill>
            <a:srgbClr val="F4F6F8"/>
          </a:solidFill>
          <a:ln w="9525">
            <a:solidFill>
              <a:srgbClr val="C9D1D9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4023360" y="2414016"/>
            <a:ext cx="56692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C828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500" dirty="0"/>
          </a:p>
          <a:p>
            <a:pPr algn="ctr" indent="0" marL="0">
              <a:buNone/>
            </a:pPr>
            <a:r>
              <a:rPr lang="en-US" sz="1700" dirty="0">
                <a:solidFill>
                  <a:srgbClr val="C828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♥</a:t>
            </a:r>
            <a:endParaRPr lang="en-US" sz="1500" dirty="0"/>
          </a:p>
        </p:txBody>
      </p:sp>
      <p:sp>
        <p:nvSpPr>
          <p:cNvPr id="18" name="card KC"/>
          <p:cNvSpPr/>
          <p:nvPr/>
        </p:nvSpPr>
        <p:spPr>
          <a:xfrm>
            <a:off x="4663440" y="2377440"/>
            <a:ext cx="566928" cy="786384"/>
          </a:xfrm>
          <a:prstGeom prst="roundRect">
            <a:avLst>
              <a:gd name="adj" fmla="val 9677"/>
            </a:avLst>
          </a:prstGeom>
          <a:solidFill>
            <a:srgbClr val="F4F6F8"/>
          </a:solidFill>
          <a:ln w="9525">
            <a:solidFill>
              <a:srgbClr val="C9D1D9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4663440" y="2414016"/>
            <a:ext cx="56692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1161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</a:t>
            </a:r>
            <a:endParaRPr lang="en-US" sz="1500" dirty="0"/>
          </a:p>
          <a:p>
            <a:pPr algn="ctr" indent="0" marL="0">
              <a:buNone/>
            </a:pPr>
            <a:r>
              <a:rPr lang="en-US" sz="1700" dirty="0">
                <a:solidFill>
                  <a:srgbClr val="11161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♣</a:t>
            </a:r>
            <a:endParaRPr lang="en-US" sz="1500" dirty="0"/>
          </a:p>
        </p:txBody>
      </p:sp>
      <p:sp>
        <p:nvSpPr>
          <p:cNvPr id="20" name="card 10C"/>
          <p:cNvSpPr/>
          <p:nvPr/>
        </p:nvSpPr>
        <p:spPr>
          <a:xfrm>
            <a:off x="5303520" y="2377440"/>
            <a:ext cx="566928" cy="786384"/>
          </a:xfrm>
          <a:prstGeom prst="roundRect">
            <a:avLst>
              <a:gd name="adj" fmla="val 9677"/>
            </a:avLst>
          </a:prstGeom>
          <a:solidFill>
            <a:srgbClr val="F4F6F8"/>
          </a:solidFill>
          <a:ln w="9525">
            <a:solidFill>
              <a:srgbClr val="C9D1D9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5303520" y="2414016"/>
            <a:ext cx="56692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1161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500" dirty="0"/>
          </a:p>
          <a:p>
            <a:pPr algn="ctr" indent="0" marL="0">
              <a:buNone/>
            </a:pPr>
            <a:r>
              <a:rPr lang="en-US" sz="1700" dirty="0">
                <a:solidFill>
                  <a:srgbClr val="11161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♣</a:t>
            </a:r>
            <a:endParaRPr lang="en-US" sz="1500" dirty="0"/>
          </a:p>
        </p:txBody>
      </p:sp>
      <p:sp>
        <p:nvSpPr>
          <p:cNvPr id="22" name="Text 20"/>
          <p:cNvSpPr txBox="1"/>
          <p:nvPr/>
        </p:nvSpPr>
        <p:spPr>
          <a:xfrm>
            <a:off x="822960" y="3246120"/>
            <a:ext cx="6400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Big trumps — but not the Jack or the Nine, the opponent holds both.</a:t>
            </a:r>
            <a:endParaRPr lang="en-US" sz="1300" dirty="0"/>
          </a:p>
        </p:txBody>
      </p:sp>
      <p:sp>
        <p:nvSpPr>
          <p:cNvPr id="23" name="deal play 0"/>
          <p:cNvSpPr/>
          <p:nvPr/>
        </p:nvSpPr>
        <p:spPr>
          <a:xfrm>
            <a:off x="822960" y="3749040"/>
            <a:ext cx="6400800" cy="914400"/>
          </a:xfrm>
          <a:prstGeom prst="roundRect">
            <a:avLst>
              <a:gd name="adj" fmla="val 6000"/>
            </a:avLst>
          </a:prstGeom>
          <a:solidFill>
            <a:schemeClr val="bg1"/>
          </a:solidFill>
          <a:ln w="12700">
            <a:solidFill>
              <a:schemeClr val="accent6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1005840" y="3840480"/>
            <a:ext cx="1463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TrumpCount</a:t>
            </a:r>
            <a:endParaRPr lang="en-US" sz="1400" dirty="0"/>
          </a:p>
        </p:txBody>
      </p:sp>
      <p:sp>
        <p:nvSpPr>
          <p:cNvPr id="25" name="Text 23"/>
          <p:cNvSpPr txBox="1"/>
          <p:nvPr/>
        </p:nvSpPr>
        <p:spPr>
          <a:xfrm>
            <a:off x="2468880" y="3840480"/>
            <a:ext cx="35661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Leads the Ace of trump at once → captured by the Jack (−31 pts).</a:t>
            </a:r>
            <a:endParaRPr lang="en-US" sz="1200" dirty="0"/>
          </a:p>
        </p:txBody>
      </p:sp>
      <p:sp>
        <p:nvSpPr>
          <p:cNvPr id="26" name="Text 24"/>
          <p:cNvSpPr txBox="1"/>
          <p:nvPr/>
        </p:nvSpPr>
        <p:spPr>
          <a:xfrm>
            <a:off x="6035040" y="3840480"/>
            <a:ext cx="1097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b="1" dirty="0">
                <a:solidFill>
                  <a:schemeClr val="tx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7</a:t>
            </a:r>
            <a:pPr algn="r" indent="0" marL="0">
              <a:buNone/>
            </a:pPr>
            <a:r>
              <a:rPr lang="en-US" sz="1100" dirty="0">
                <a:solidFill>
                  <a:schemeClr val="tx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pts</a:t>
            </a:r>
            <a:endParaRPr lang="en-US" sz="2400" dirty="0"/>
          </a:p>
        </p:txBody>
      </p:sp>
      <p:sp>
        <p:nvSpPr>
          <p:cNvPr id="27" name="deal play 1"/>
          <p:cNvSpPr/>
          <p:nvPr/>
        </p:nvSpPr>
        <p:spPr>
          <a:xfrm>
            <a:off x="822960" y="4846320"/>
            <a:ext cx="6400800" cy="914400"/>
          </a:xfrm>
          <a:prstGeom prst="roundRect">
            <a:avLst>
              <a:gd name="adj" fmla="val 6000"/>
            </a:avLst>
          </a:prstGeom>
          <a:solidFill>
            <a:schemeClr val="bg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1005840" y="4937760"/>
            <a:ext cx="1463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PPO agent</a:t>
            </a:r>
            <a:endParaRPr lang="en-US" sz="1400" dirty="0"/>
          </a:p>
        </p:txBody>
      </p:sp>
      <p:sp>
        <p:nvSpPr>
          <p:cNvPr id="29" name="Text 27"/>
          <p:cNvSpPr txBox="1"/>
          <p:nvPr/>
        </p:nvSpPr>
        <p:spPr>
          <a:xfrm>
            <a:off x="2468880" y="4937760"/>
            <a:ext cx="35661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Ducks under the Jack with the 8, flushes out the Nine with the Queen, then cashes 10 + Ace as masters.</a:t>
            </a:r>
            <a:endParaRPr lang="en-US" sz="1200" dirty="0"/>
          </a:p>
        </p:txBody>
      </p:sp>
      <p:sp>
        <p:nvSpPr>
          <p:cNvPr id="30" name="Text 28"/>
          <p:cNvSpPr txBox="1"/>
          <p:nvPr/>
        </p:nvSpPr>
        <p:spPr>
          <a:xfrm>
            <a:off x="6035040" y="4937760"/>
            <a:ext cx="1097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b="1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58</a:t>
            </a:r>
            <a:pPr algn="r" indent="0" marL="0">
              <a:buNone/>
            </a:pPr>
            <a:r>
              <a:rPr lang="en-US" sz="1100" dirty="0">
                <a:solidFill>
                  <a:schemeClr val="tx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pts</a:t>
            </a:r>
            <a:endParaRPr lang="en-US" sz="2400" dirty="0"/>
          </a:p>
        </p:txBody>
      </p:sp>
      <p:sp>
        <p:nvSpPr>
          <p:cNvPr id="31" name="learned card"/>
          <p:cNvSpPr/>
          <p:nvPr/>
        </p:nvSpPr>
        <p:spPr>
          <a:xfrm>
            <a:off x="7772400" y="1783080"/>
            <a:ext cx="3840480" cy="2057400"/>
          </a:xfrm>
          <a:prstGeom prst="roundRect">
            <a:avLst>
              <a:gd name="adj" fmla="val 3556"/>
            </a:avLst>
          </a:prstGeom>
          <a:solidFill>
            <a:schemeClr val="bg2"/>
          </a:solidFill>
          <a:ln w="9525">
            <a:solidFill>
              <a:schemeClr val="accent6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8046720" y="20116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LEARNED ALONE</a:t>
            </a:r>
            <a:endParaRPr lang="en-US" sz="1100" dirty="0"/>
          </a:p>
        </p:txBody>
      </p:sp>
      <p:sp>
        <p:nvSpPr>
          <p:cNvPr id="33" name="Text 31"/>
          <p:cNvSpPr txBox="1"/>
          <p:nvPr/>
        </p:nvSpPr>
        <p:spPr>
          <a:xfrm>
            <a:off x="8046720" y="2377440"/>
            <a:ext cx="33832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Wait for the opponent's top trumps to fall</a:t>
            </a:r>
            <a:endParaRPr lang="en-US" sz="15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Profitable ruffs</a:t>
            </a:r>
            <a:endParaRPr lang="en-US" sz="15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Cash master cards at the end</a:t>
            </a:r>
            <a:endParaRPr lang="en-US" sz="1500" dirty="0"/>
          </a:p>
        </p:txBody>
      </p:sp>
      <p:sp>
        <p:nvSpPr>
          <p:cNvPr id="34" name="mistake card"/>
          <p:cNvSpPr/>
          <p:nvPr/>
        </p:nvSpPr>
        <p:spPr>
          <a:xfrm>
            <a:off x="7772400" y="4069080"/>
            <a:ext cx="3840480" cy="2057400"/>
          </a:xfrm>
          <a:prstGeom prst="roundRect">
            <a:avLst>
              <a:gd name="adj" fmla="val 3556"/>
            </a:avLst>
          </a:prstGeom>
          <a:solidFill>
            <a:schemeClr val="bg2"/>
          </a:solidFill>
          <a:ln w="9525">
            <a:solidFill>
              <a:schemeClr val="accent6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8046720" y="42976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chemeClr val="accent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STILL WRONG</a:t>
            </a:r>
            <a:endParaRPr lang="en-US" sz="1100" dirty="0"/>
          </a:p>
        </p:txBody>
      </p:sp>
      <p:sp>
        <p:nvSpPr>
          <p:cNvPr id="36" name="Text 34"/>
          <p:cNvSpPr txBox="1"/>
          <p:nvPr/>
        </p:nvSpPr>
        <p:spPr>
          <a:xfrm>
            <a:off x="8046720" y="4663440"/>
            <a:ext cx="33832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Leads a Ten while the Ace is still out (−21 pts), with 100% confidence.</a:t>
            </a:r>
            <a:endParaRPr lang="en-US" sz="1300" dirty="0"/>
          </a:p>
          <a:p>
            <a:pPr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→ weak memory of which high cards remain.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09960" y="638251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tx2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548640" y="384048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16 / NEXT STEPS</a:t>
            </a:r>
            <a:endParaRPr lang="en-US" sz="12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713232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tx1"/>
                </a:solidFill>
              </a:rPr>
              <a:t>Where we stand — and what comes next</a:t>
            </a:r>
            <a:endParaRPr lang="en-US" sz="3400" dirty="0"/>
          </a:p>
        </p:txBody>
      </p:sp>
      <p:sp>
        <p:nvSpPr>
          <p:cNvPr id="4" name="done card"/>
          <p:cNvSpPr/>
          <p:nvPr/>
        </p:nvSpPr>
        <p:spPr>
          <a:xfrm>
            <a:off x="548640" y="1783080"/>
            <a:ext cx="5394960" cy="4343400"/>
          </a:xfrm>
          <a:prstGeom prst="roundRect">
            <a:avLst>
              <a:gd name="adj" fmla="val 1684"/>
            </a:avLst>
          </a:prstGeom>
          <a:solidFill>
            <a:schemeClr val="bg2"/>
          </a:solidFill>
          <a:ln w="9525">
            <a:solidFill>
              <a:schemeClr val="accent6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22960" y="20116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DONE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2423160"/>
            <a:ext cx="493776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Tested Belote environment, 4 baselines, PPO from scratch</a:t>
            </a:r>
            <a:endParaRPr lang="en-US" sz="15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Duplicate-deal evaluation: 2–3× tighter error bars</a:t>
            </a:r>
            <a:endParaRPr lang="en-US" sz="15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Fixed 2 silent bugs (perspective leak, GAE across seats)</a:t>
            </a:r>
            <a:endParaRPr lang="en-US" sz="15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Ablations: removing the win bonus is the key change</a:t>
            </a:r>
            <a:endParaRPr lang="en-US" sz="15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Wins 83% of full games vs Random, 62% vs our best heuristic — reproduced in 3 independent runs</a:t>
            </a:r>
            <a:endParaRPr lang="en-US" sz="1500" dirty="0"/>
          </a:p>
        </p:txBody>
      </p:sp>
      <p:sp>
        <p:nvSpPr>
          <p:cNvPr id="7" name="next card"/>
          <p:cNvSpPr/>
          <p:nvPr/>
        </p:nvSpPr>
        <p:spPr>
          <a:xfrm>
            <a:off x="6217920" y="1783080"/>
            <a:ext cx="5394960" cy="4343400"/>
          </a:xfrm>
          <a:prstGeom prst="roundRect">
            <a:avLst>
              <a:gd name="adj" fmla="val 1684"/>
            </a:avLst>
          </a:prstGeom>
          <a:solidFill>
            <a:schemeClr val="bg2"/>
          </a:solidFill>
          <a:ln w="9525">
            <a:solidFill>
              <a:schemeClr val="accent6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492240" y="20116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NEXT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6492240" y="242316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01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7086600" y="2423160"/>
            <a:ext cx="42976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Memory</a:t>
            </a:r>
            <a:endParaRPr lang="en-US" sz="1500" dirty="0"/>
          </a:p>
        </p:txBody>
      </p:sp>
      <p:sp>
        <p:nvSpPr>
          <p:cNvPr id="11" name="Text 9"/>
          <p:cNvSpPr txBox="1"/>
          <p:nvPr/>
        </p:nvSpPr>
        <p:spPr>
          <a:xfrm>
            <a:off x="7086600" y="2770632"/>
            <a:ext cx="4297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LSTM or a belief table of the opponent's cards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6492240" y="329184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02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7086600" y="3291840"/>
            <a:ext cx="42976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League self-play</a:t>
            </a:r>
            <a:endParaRPr lang="en-US" sz="1500" dirty="0"/>
          </a:p>
        </p:txBody>
      </p:sp>
      <p:sp>
        <p:nvSpPr>
          <p:cNvPr id="14" name="Text 12"/>
          <p:cNvSpPr txBox="1"/>
          <p:nvPr/>
        </p:nvSpPr>
        <p:spPr>
          <a:xfrm>
            <a:off x="7086600" y="3639312"/>
            <a:ext cx="4297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Train against a pool of past versions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6492240" y="416052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03</a:t>
            </a:r>
            <a:endParaRPr lang="en-US" sz="1500" dirty="0"/>
          </a:p>
        </p:txBody>
      </p:sp>
      <p:sp>
        <p:nvSpPr>
          <p:cNvPr id="16" name="Text 14"/>
          <p:cNvSpPr txBox="1"/>
          <p:nvPr/>
        </p:nvSpPr>
        <p:spPr>
          <a:xfrm>
            <a:off x="7086600" y="4160520"/>
            <a:ext cx="42976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Trump choice</a:t>
            </a:r>
            <a:endParaRPr lang="en-US" sz="1500" dirty="0"/>
          </a:p>
        </p:txBody>
      </p:sp>
      <p:sp>
        <p:nvSpPr>
          <p:cNvPr id="17" name="Text 15"/>
          <p:cNvSpPr txBox="1"/>
          <p:nvPr/>
        </p:nvSpPr>
        <p:spPr>
          <a:xfrm>
            <a:off x="7086600" y="4507992"/>
            <a:ext cx="4297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Let the agent bid the trump suit (Phase 4)</a:t>
            </a:r>
            <a:endParaRPr lang="en-US" sz="1300" dirty="0"/>
          </a:p>
        </p:txBody>
      </p:sp>
      <p:sp>
        <p:nvSpPr>
          <p:cNvPr id="18" name="Text 16"/>
          <p:cNvSpPr txBox="1"/>
          <p:nvPr/>
        </p:nvSpPr>
        <p:spPr>
          <a:xfrm>
            <a:off x="6492240" y="502920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04</a:t>
            </a:r>
            <a:endParaRPr lang="en-US" sz="1500" dirty="0"/>
          </a:p>
        </p:txBody>
      </p:sp>
      <p:sp>
        <p:nvSpPr>
          <p:cNvPr id="19" name="Text 17"/>
          <p:cNvSpPr txBox="1"/>
          <p:nvPr/>
        </p:nvSpPr>
        <p:spPr>
          <a:xfrm>
            <a:off x="7086600" y="5029200"/>
            <a:ext cx="42976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Human vs agent</a:t>
            </a:r>
            <a:endParaRPr lang="en-US" sz="1500" dirty="0"/>
          </a:p>
        </p:txBody>
      </p:sp>
      <p:sp>
        <p:nvSpPr>
          <p:cNvPr id="20" name="Text 18"/>
          <p:cNvSpPr txBox="1"/>
          <p:nvPr/>
        </p:nvSpPr>
        <p:spPr>
          <a:xfrm>
            <a:off x="7086600" y="5376672"/>
            <a:ext cx="4297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Plug the trained agent into the playable CLI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09960" y="638251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tx2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r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731520" y="141732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QUESTIONS</a:t>
            </a:r>
            <a:endParaRPr lang="en-US" sz="13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731520" y="1874520"/>
            <a:ext cx="822960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chemeClr val="tx1"/>
                </a:solidFill>
              </a:rPr>
              <a:t>Thank you</a:t>
            </a:r>
            <a:endParaRPr lang="en-US" sz="44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731520" y="3429000"/>
            <a:ext cx="8229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tx2"/>
                </a:solidFill>
              </a:rPr>
              <a:t>Noa Curiel  &amp;  Yoni Benabou</a:t>
            </a:r>
            <a:endParaRPr lang="en-US" sz="1800" dirty="0"/>
          </a:p>
        </p:txBody>
      </p:sp>
      <p:sp>
        <p:nvSpPr>
          <p:cNvPr id="5" name="end suit tile 0"/>
          <p:cNvSpPr/>
          <p:nvPr/>
        </p:nvSpPr>
        <p:spPr>
          <a:xfrm>
            <a:off x="9372600" y="2011680"/>
            <a:ext cx="960120" cy="960120"/>
          </a:xfrm>
          <a:prstGeom prst="roundRect">
            <a:avLst>
              <a:gd name="adj" fmla="val 9524"/>
            </a:avLst>
          </a:prstGeom>
          <a:solidFill>
            <a:schemeClr val="bg2">
              <a:alpha val="80000"/>
            </a:schemeClr>
          </a:solidFill>
          <a:ln w="12700">
            <a:solidFill>
              <a:schemeClr val="accent6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372600" y="201168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dirty="0">
                <a:solidFill>
                  <a:schemeClr val="tx1"/>
                </a:solidFill>
              </a:rPr>
              <a:t>♠</a:t>
            </a:r>
            <a:endParaRPr lang="en-US" sz="3400" dirty="0"/>
          </a:p>
        </p:txBody>
      </p:sp>
      <p:sp>
        <p:nvSpPr>
          <p:cNvPr id="7" name="end suit tile 1"/>
          <p:cNvSpPr/>
          <p:nvPr/>
        </p:nvSpPr>
        <p:spPr>
          <a:xfrm>
            <a:off x="10515600" y="2011680"/>
            <a:ext cx="960120" cy="960120"/>
          </a:xfrm>
          <a:prstGeom prst="roundRect">
            <a:avLst>
              <a:gd name="adj" fmla="val 9524"/>
            </a:avLst>
          </a:prstGeom>
          <a:solidFill>
            <a:schemeClr val="bg2">
              <a:alpha val="80000"/>
            </a:schemeClr>
          </a:solidFill>
          <a:ln w="12700">
            <a:solidFill>
              <a:schemeClr val="accent6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10515600" y="201168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dirty="0">
                <a:solidFill>
                  <a:schemeClr val="accent2"/>
                </a:solidFill>
              </a:rPr>
              <a:t>♥</a:t>
            </a:r>
            <a:endParaRPr lang="en-US" sz="3400" dirty="0"/>
          </a:p>
        </p:txBody>
      </p:sp>
      <p:sp>
        <p:nvSpPr>
          <p:cNvPr id="9" name="end suit tile 2"/>
          <p:cNvSpPr/>
          <p:nvPr/>
        </p:nvSpPr>
        <p:spPr>
          <a:xfrm>
            <a:off x="9372600" y="3154680"/>
            <a:ext cx="960120" cy="960120"/>
          </a:xfrm>
          <a:prstGeom prst="roundRect">
            <a:avLst>
              <a:gd name="adj" fmla="val 9524"/>
            </a:avLst>
          </a:prstGeom>
          <a:solidFill>
            <a:schemeClr val="bg2">
              <a:alpha val="80000"/>
            </a:schemeClr>
          </a:solidFill>
          <a:ln w="12700">
            <a:solidFill>
              <a:schemeClr val="accent6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9372600" y="315468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dirty="0">
                <a:solidFill>
                  <a:schemeClr val="accent2"/>
                </a:solidFill>
              </a:rPr>
              <a:t>♦</a:t>
            </a:r>
            <a:endParaRPr lang="en-US" sz="3400" dirty="0"/>
          </a:p>
        </p:txBody>
      </p:sp>
      <p:sp>
        <p:nvSpPr>
          <p:cNvPr id="11" name="end suit tile 3"/>
          <p:cNvSpPr/>
          <p:nvPr/>
        </p:nvSpPr>
        <p:spPr>
          <a:xfrm>
            <a:off x="10515600" y="3154680"/>
            <a:ext cx="960120" cy="960120"/>
          </a:xfrm>
          <a:prstGeom prst="roundRect">
            <a:avLst>
              <a:gd name="adj" fmla="val 9524"/>
            </a:avLst>
          </a:prstGeom>
          <a:solidFill>
            <a:schemeClr val="bg2">
              <a:alpha val="80000"/>
            </a:schemeClr>
          </a:solidFill>
          <a:ln w="12700">
            <a:solidFill>
              <a:schemeClr val="accent6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10515600" y="315468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dirty="0">
                <a:solidFill>
                  <a:schemeClr val="tx1"/>
                </a:solidFill>
              </a:rPr>
              <a:t>♣</a:t>
            </a:r>
            <a:endParaRPr lang="en-US" sz="3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Belote RL Dark">
  <a:themeElements>
    <a:clrScheme name="Belote RL Dark">
      <a:dk1>
        <a:srgbClr val="E6EBF0"/>
      </a:dk1>
      <a:lt1>
        <a:srgbClr val="0A0E13"/>
      </a:lt1>
      <a:dk2>
        <a:srgbClr val="8C99A8"/>
      </a:dk2>
      <a:lt2>
        <a:srgbClr val="121922"/>
      </a:lt2>
      <a:accent1>
        <a:srgbClr val="2DE2A6"/>
      </a:accent1>
      <a:accent2>
        <a:srgbClr val="F2545B"/>
      </a:accent2>
      <a:accent3>
        <a:srgbClr val="5B6B7D"/>
      </a:accent3>
      <a:accent4>
        <a:srgbClr val="7D8B9B"/>
      </a:accent4>
      <a:accent5>
        <a:srgbClr val="A9B4C0"/>
      </a:accent5>
      <a:accent6>
        <a:srgbClr val="243140"/>
      </a:accent6>
      <a:hlink>
        <a:srgbClr val="2DE2A6"/>
      </a:hlink>
      <a:folHlink>
        <a:srgbClr val="A9B4C0"/>
      </a:folHlink>
    </a:clrScheme>
    <a:fontScheme name="Belote RL Dark">
      <a:majorFont>
        <a:latin typeface="Arial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rial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18</Slides>
  <Notes>18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2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Learning to Play Belote with Reinforcement Learning</dc:title>
  <dc:subject>PptxGenJS Presentation</dc:subject>
  <dc:creator>Noa Curiel, Yoni Benabou</dc:creator>
  <cp:lastModifiedBy>Noa Curiel, Yoni Benabou</cp:lastModifiedBy>
  <cp:revision>1</cp:revision>
  <dcterms:created xsi:type="dcterms:W3CDTF">2026-10-22T13:41:20Z</dcterms:created>
  <dcterms:modified xsi:type="dcterms:W3CDTF">2026-10-22T13:41:20Z</dcterms:modified>
</cp:coreProperties>
</file>