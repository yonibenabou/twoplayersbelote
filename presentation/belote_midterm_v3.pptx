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7c51c4e-71a2-8a42-46e8-754b48d90dde}">
          <p14:sldIdLst>
            <p14:sldId id="256"/>
            <p14:sldId id="257"/>
            <p14:sldId id="258"/>
            <p14:sldId id="259"/>
          </p14:sldIdLst>
        </p14:section>
        <p14:section name="Method" id="{5b9a52a5-8648-0caa-5609-cb62a234a3bc}">
          <p14:sldIdLst>
            <p14:sldId id="260"/>
            <p14:sldId id="261"/>
            <p14:sldId id="262"/>
            <p14:sldId id="263"/>
          </p14:sldIdLst>
        </p14:section>
        <p14:section name="Results" id="{cdc9a542-37b1-71fc-be58-e304c956580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onclusion" id="{79f24836-0bc9-adde-f823-c837afcad5f0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 vs TrumpCount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+0.0;−0.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 entropy 0.03</c:v>
                  </c:pt>
                  <c:pt idx="2">
                    <c:v>+ lr 3e-4</c:v>
                  </c:pt>
                  <c:pt idx="3">
                    <c:v>vs heuristics</c:v>
                  </c:pt>
                  <c:pt idx="4">
                    <c:v>No win bonus</c:v>
                  </c:pt>
                  <c:pt idx="5">
                    <c:v>No bonus + lr 3e-4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-4.6</c:v>
                </c:pt>
                <c:pt idx="1">
                  <c:v>-1.7</c:v>
                </c:pt>
                <c:pt idx="2">
                  <c:v>-2.4</c:v>
                </c:pt>
                <c:pt idx="3">
                  <c:v>-2.2</c:v>
                </c:pt>
                <c:pt idx="4">
                  <c:v>-0.4</c:v>
                </c:pt>
                <c:pt idx="5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+0.0;−0.0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250k</c:v>
                  </c:pt>
                  <c:pt idx="2">
                    <c:v>500k</c:v>
                  </c:pt>
                  <c:pt idx="3">
                    <c:v>1M</c:v>
                  </c:pt>
                  <c:pt idx="4">
                    <c:v>1.5M</c:v>
                  </c:pt>
                  <c:pt idx="5">
                    <c:v>2M</c:v>
                  </c:pt>
                  <c:pt idx="6">
                    <c:v>2.5M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12.5</c:v>
                </c:pt>
                <c:pt idx="1">
                  <c:v>3</c:v>
                </c:pt>
                <c:pt idx="2">
                  <c:v>1.5</c:v>
                </c:pt>
                <c:pt idx="3">
                  <c:v>1.3</c:v>
                </c:pt>
                <c:pt idx="4">
                  <c:v>0.7</c:v>
                </c:pt>
                <c:pt idx="5">
                  <c:v>0.2</c:v>
                </c:pt>
                <c:pt idx="6">
                  <c:v>0</c:v>
                </c:pt>
              </c:numCache>
            </c:numRef>
          </c:val>
        </c:ser>
        <c:dLbls>
          <c:numFmt formatCode="+0.0;−0.0;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9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RL agent that learns two-player Belote from scratch with PPO self-play.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numbers: final agent re-evaluated on 3 000 duplicate deals (6 000 games)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Rounds won: single rounds, duplicate deals, 6 000 rounds per match-up (1 200 for the cheater). Games won: full games to 501 points, about 10 rounds each. The cheater is an exact dynamic-programming player that sees the opponent's hand and maximises its expected point margin against a uniformly random opponent: no honest player can do better against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configuration (no win bonus, lr 3e-4), three different random seeds. Each agent re-evaluated at 2M games on 6 000 duplicate games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TO PLAY BELOTE  ·  MID-TERM REVIEW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MID-TERM REVIEW  ·  TECHNION  · 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Learning to Play Belote with Reinforcement Learning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PPO self-play on a two-player Belote environment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Noa Curiel  &amp;  Yoni Benabou</a:t>
            </a:r>
            <a:endParaRPr lang="en-US" sz="1600" dirty="0"/>
          </a:p>
        </p:txBody>
      </p:sp>
      <p:sp>
        <p:nvSpPr>
          <p:cNvPr id="6" name="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8" name="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10" name="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2" name="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MOTIVATION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Belote?</a:t>
            </a:r>
            <a:endParaRPr lang="en-US" sz="3400" dirty="0"/>
          </a:p>
        </p:txBody>
      </p:sp>
      <p:sp>
        <p:nvSpPr>
          <p:cNvPr id="4" name="why card 0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why icon bg 0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2199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842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popular strategic game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3774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of the most played card games in France, with a Belote tournament held every year at the Technion.</a:t>
            </a:r>
            <a:endParaRPr lang="en-US" sz="1500" dirty="0"/>
          </a:p>
        </p:txBody>
      </p:sp>
      <p:sp>
        <p:nvSpPr>
          <p:cNvPr id="9" name="why card 1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why icon bg 1"/>
          <p:cNvSpPr/>
          <p:nvPr/>
        </p:nvSpPr>
        <p:spPr>
          <a:xfrm>
            <a:off x="822960" y="353872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850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4472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real AI challenge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8404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Imperfect information: the opponent's hand is hidden, so every decision is a bet on what they hold and on how the trick will unfold.</a:t>
            </a:r>
            <a:endParaRPr lang="en-US" sz="1500" dirty="0"/>
          </a:p>
        </p:txBody>
      </p:sp>
      <p:sp>
        <p:nvSpPr>
          <p:cNvPr id="14" name="why card 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why icon bg 2"/>
          <p:cNvSpPr/>
          <p:nvPr/>
        </p:nvSpPr>
        <p:spPr>
          <a:xfrm>
            <a:off x="822960" y="500176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910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Our motivation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3035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long-time players, we wanted to see whether an RL agent can rediscover human conventions — or beat them — purely through self-play.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THE GAME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Our two-player Belote variant</a:t>
            </a:r>
            <a:endParaRPr lang="en-US" sz="3400" dirty="0"/>
          </a:p>
        </p:txBody>
      </p:sp>
      <p:sp>
        <p:nvSpPr>
          <p:cNvPr id="4" name="rules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32-card deck, 8 cards per player — 16 stay hidden all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Trump suit drawn at random each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Must follow suit; otherwise must trump; must over-trump when trump is led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Highest card wins the trick (trump beats every other suit)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+10 for the last trick (dix de der), +20 for King + Queen of trump (belote-rebelote)</a:t>
            </a:r>
            <a:endParaRPr lang="en-US" sz="1500" dirty="0"/>
          </a:p>
        </p:txBody>
      </p:sp>
      <p:sp>
        <p:nvSpPr>
          <p:cNvPr id="7" name="points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NON-TRUMP</a:t>
            </a:r>
            <a:endParaRPr lang="en-US" sz="1100" dirty="0"/>
          </a:p>
        </p:txBody>
      </p:sp>
      <p:pic>
        <p:nvPicPr>
          <p:cNvPr id="9" name="NON-TRUMP cards photo" descr="cards_nontr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846320" cy="1118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75213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263271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3380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7505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297529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254827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TRUMP</a:t>
            </a:r>
            <a:endParaRPr lang="en-US" sz="1100" dirty="0"/>
          </a:p>
        </p:txBody>
      </p:sp>
      <p:pic>
        <p:nvPicPr>
          <p:cNvPr id="17" name="TRUMP cards photo" descr="cards_tr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251960"/>
            <a:ext cx="4846320" cy="107845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090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pts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9145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27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505828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14616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79997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07715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 trump, the Jack and the Nine jump to the top.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SCOPE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four-player Coinche to two-player Belote</a:t>
            </a:r>
            <a:endParaRPr lang="en-US" sz="3400" dirty="0"/>
          </a:p>
        </p:txBody>
      </p:sp>
      <p:sp>
        <p:nvSpPr>
          <p:cNvPr id="4" name="scope card 0"/>
          <p:cNvSpPr/>
          <p:nvPr/>
        </p:nvSpPr>
        <p:spPr>
          <a:xfrm>
            <a:off x="54864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IDEA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Four-player Coinche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teams of two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&amp; contracts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original rules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cope card 1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 noisy for PPO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hidden hands + a partner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shared by the team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adds huge variance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cope card 2"/>
          <p:cNvSpPr/>
          <p:nvPr/>
        </p:nvSpPr>
        <p:spPr>
          <a:xfrm>
            <a:off x="813816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CHOICE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Two-player Belote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opponent, zero-sum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trumps, cutting, hidden info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shared network in self-play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PIPELINE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Development pipeline</a:t>
            </a:r>
            <a:endParaRPr lang="en-US" sz="3400" dirty="0"/>
          </a:p>
        </p:txBody>
      </p:sp>
      <p:sp>
        <p:nvSpPr>
          <p:cNvPr id="4" name="pipeline step 0"/>
          <p:cNvSpPr/>
          <p:nvPr/>
        </p:nvSpPr>
        <p:spPr>
          <a:xfrm>
            <a:off x="548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 engine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Legal moves, scoring</a:t>
            </a:r>
            <a:endParaRPr lang="en-US" sz="1200" dirty="0"/>
          </a:p>
        </p:txBody>
      </p:sp>
      <p:sp>
        <p:nvSpPr>
          <p:cNvPr id="8" name="pipeline step 1"/>
          <p:cNvSpPr/>
          <p:nvPr/>
        </p:nvSpPr>
        <p:spPr>
          <a:xfrm>
            <a:off x="2148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13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Gym env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13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598-dim obs, action mask</a:t>
            </a:r>
            <a:endParaRPr lang="en-US" sz="1200" dirty="0"/>
          </a:p>
        </p:txBody>
      </p:sp>
      <p:sp>
        <p:nvSpPr>
          <p:cNvPr id="12" name="pipeline step 2"/>
          <p:cNvSpPr/>
          <p:nvPr/>
        </p:nvSpPr>
        <p:spPr>
          <a:xfrm>
            <a:off x="37490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Baselines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 reference agents</a:t>
            </a:r>
            <a:endParaRPr lang="en-US" sz="1200" dirty="0"/>
          </a:p>
        </p:txBody>
      </p:sp>
      <p:sp>
        <p:nvSpPr>
          <p:cNvPr id="16" name="pipeline step 3"/>
          <p:cNvSpPr/>
          <p:nvPr/>
        </p:nvSpPr>
        <p:spPr>
          <a:xfrm>
            <a:off x="53492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138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Actor-critic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Shared policy + value</a:t>
            </a:r>
            <a:endParaRPr lang="en-US" sz="1200" dirty="0"/>
          </a:p>
        </p:txBody>
      </p:sp>
      <p:sp>
        <p:nvSpPr>
          <p:cNvPr id="20" name="pipeline step 4"/>
          <p:cNvSpPr/>
          <p:nvPr/>
        </p:nvSpPr>
        <p:spPr>
          <a:xfrm>
            <a:off x="69494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140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Self-play + GAE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Experience &amp; advantages</a:t>
            </a:r>
            <a:endParaRPr lang="en-US" sz="1200" dirty="0"/>
          </a:p>
        </p:txBody>
      </p:sp>
      <p:sp>
        <p:nvSpPr>
          <p:cNvPr id="24" name="pipeline step 5"/>
          <p:cNvSpPr/>
          <p:nvPr/>
        </p:nvSpPr>
        <p:spPr>
          <a:xfrm>
            <a:off x="8549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14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14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Clipped objective</a:t>
            </a:r>
            <a:endParaRPr lang="en-US" sz="1200" dirty="0"/>
          </a:p>
        </p:txBody>
      </p:sp>
      <p:sp>
        <p:nvSpPr>
          <p:cNvPr id="28" name="pipeline step 6"/>
          <p:cNvSpPr/>
          <p:nvPr/>
        </p:nvSpPr>
        <p:spPr>
          <a:xfrm>
            <a:off x="10149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14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Duplicate deals</a:t>
            </a:r>
            <a:endParaRPr lang="en-US" sz="1200" dirty="0"/>
          </a:p>
        </p:txBody>
      </p:sp>
      <p:sp>
        <p:nvSpPr>
          <p:cNvPr id="32" name="principle card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645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DESIGN PRINCIPLE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stage is validated by its own test suite (7 in total) before the next one is built on it. Two silent bugs still slipped through — found by code review and by analysing why the agent did not learn, then locked in by new tests.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ENVIRONMENT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Belote environment</a:t>
            </a:r>
            <a:endParaRPr lang="en-US" sz="3400" dirty="0"/>
          </a:p>
        </p:txBody>
      </p:sp>
      <p:sp>
        <p:nvSpPr>
          <p:cNvPr id="4" name="env card 0"/>
          <p:cNvSpPr/>
          <p:nvPr/>
        </p:nvSpPr>
        <p:spPr>
          <a:xfrm>
            <a:off x="54864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598-dim vector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My hand (32) + cards played (32)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Trump suit (4), both scores (2)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Who won each trick: me / opponent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Per-trick detail: my card, theirs, leader</a:t>
            </a:r>
            <a:endParaRPr lang="en-US" sz="1500" dirty="0"/>
          </a:p>
        </p:txBody>
      </p:sp>
      <p:sp>
        <p:nvSpPr>
          <p:cNvPr id="8" name="env card 1"/>
          <p:cNvSpPr/>
          <p:nvPr/>
        </p:nvSpPr>
        <p:spPr>
          <a:xfrm>
            <a:off x="434340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of 32 cards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Illegal cards masked to −∞ before the softmax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agent only ever samples a legal move</a:t>
            </a:r>
            <a:endParaRPr lang="en-US" sz="1500" dirty="0"/>
          </a:p>
        </p:txBody>
      </p:sp>
      <p:sp>
        <p:nvSpPr>
          <p:cNvPr id="12" name="env card 2"/>
          <p:cNvSpPr/>
          <p:nvPr/>
        </p:nvSpPr>
        <p:spPr>
          <a:xfrm>
            <a:off x="813816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Points actually won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Trick points, normalized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 dix de der, + belote-rebelote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±1 win bonus (removed — see results)</a:t>
            </a:r>
            <a:endParaRPr lang="en-US" sz="1500" dirty="0"/>
          </a:p>
        </p:txBody>
      </p:sp>
      <p:sp>
        <p:nvSpPr>
          <p:cNvPr id="16" name="bug card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230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FIXED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winners were stored as an absolute seat (0/1) while everything else was relative to the active player — breaking the perspective a shared self-play network relies on. Re-encoded as me / opponent / not played.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BASELINES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Hand-crafted reference opponents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Strength = average point margin per game against the Random agent (duplicate deals, 10 000 games each)</a:t>
            </a:r>
            <a:endParaRPr lang="en-US" sz="1300" dirty="0"/>
          </a:p>
        </p:txBody>
      </p:sp>
      <p:sp>
        <p:nvSpPr>
          <p:cNvPr id="5" name="baseline Random"/>
          <p:cNvSpPr/>
          <p:nvPr/>
        </p:nvSpPr>
        <p:spPr>
          <a:xfrm>
            <a:off x="548640" y="2194560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3317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Plays a uniformly random legal card. Sanity floor.</a:t>
            </a:r>
            <a:endParaRPr lang="en-US" sz="1300" dirty="0"/>
          </a:p>
        </p:txBody>
      </p:sp>
      <p:sp>
        <p:nvSpPr>
          <p:cNvPr id="8" name="baseline track Random"/>
          <p:cNvSpPr/>
          <p:nvPr/>
        </p:nvSpPr>
        <p:spPr>
          <a:xfrm>
            <a:off x="8229600" y="2523744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9" name="baseline bar Random"/>
          <p:cNvSpPr/>
          <p:nvPr/>
        </p:nvSpPr>
        <p:spPr>
          <a:xfrm>
            <a:off x="8229600" y="2523744"/>
            <a:ext cx="11887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44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</a:t>
            </a:r>
            <a:endParaRPr lang="en-US" sz="1600" dirty="0"/>
          </a:p>
        </p:txBody>
      </p:sp>
      <p:sp>
        <p:nvSpPr>
          <p:cNvPr id="11" name="baseline Heuristic"/>
          <p:cNvSpPr/>
          <p:nvPr/>
        </p:nvSpPr>
        <p:spPr>
          <a:xfrm>
            <a:off x="548640" y="3182112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Heuristic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192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Leads its strongest trump, wins tricks as cheaply as possible, discards low.</a:t>
            </a:r>
            <a:endParaRPr lang="en-US" sz="1300" dirty="0"/>
          </a:p>
        </p:txBody>
      </p:sp>
      <p:sp>
        <p:nvSpPr>
          <p:cNvPr id="14" name="baseline track Heuristic"/>
          <p:cNvSpPr/>
          <p:nvPr/>
        </p:nvSpPr>
        <p:spPr>
          <a:xfrm>
            <a:off x="8229600" y="3511296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5" name="baseline bar Heuristic"/>
          <p:cNvSpPr/>
          <p:nvPr/>
        </p:nvSpPr>
        <p:spPr>
          <a:xfrm>
            <a:off x="8229600" y="3511296"/>
            <a:ext cx="115900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44200" y="33649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+3.9</a:t>
            </a:r>
            <a:endParaRPr lang="en-US" sz="1600" dirty="0"/>
          </a:p>
        </p:txBody>
      </p:sp>
      <p:sp>
        <p:nvSpPr>
          <p:cNvPr id="17" name="baseline VoidExploit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0682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VoidExploit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068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Tracks suits the opponent can't follow and leads them to drain its trumps.</a:t>
            </a:r>
            <a:endParaRPr lang="en-US" sz="1300" dirty="0"/>
          </a:p>
        </p:txBody>
      </p:sp>
      <p:sp>
        <p:nvSpPr>
          <p:cNvPr id="20" name="baseline track VoidExploit"/>
          <p:cNvSpPr/>
          <p:nvPr/>
        </p:nvSpPr>
        <p:spPr>
          <a:xfrm>
            <a:off x="8229600" y="4498848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1" name="baseline bar VoidExploit"/>
          <p:cNvSpPr/>
          <p:nvPr/>
        </p:nvSpPr>
        <p:spPr>
          <a:xfrm>
            <a:off x="8229600" y="4498848"/>
            <a:ext cx="2169414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43525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+7.3</a:t>
            </a:r>
            <a:endParaRPr lang="en-US" sz="1600" dirty="0"/>
          </a:p>
        </p:txBody>
      </p:sp>
      <p:sp>
        <p:nvSpPr>
          <p:cNvPr id="23" name="baseline TrumpCount"/>
          <p:cNvSpPr/>
          <p:nvPr/>
        </p:nvSpPr>
        <p:spPr>
          <a:xfrm>
            <a:off x="548640" y="5157216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294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TrumpCount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52943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Counts remaining trumps and leads trump only when holding the majority.</a:t>
            </a:r>
            <a:endParaRPr lang="en-US" sz="1300" dirty="0"/>
          </a:p>
        </p:txBody>
      </p:sp>
      <p:sp>
        <p:nvSpPr>
          <p:cNvPr id="26" name="baseline track TrumpCount"/>
          <p:cNvSpPr/>
          <p:nvPr/>
        </p:nvSpPr>
        <p:spPr>
          <a:xfrm>
            <a:off x="8229600" y="5486400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7" name="baseline bar TrumpCount"/>
          <p:cNvSpPr/>
          <p:nvPr/>
        </p:nvSpPr>
        <p:spPr>
          <a:xfrm>
            <a:off x="8229600" y="5486400"/>
            <a:ext cx="2347722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44200" y="53400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AGENT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shared network, trained by PPO self-play</a:t>
            </a:r>
            <a:endParaRPr lang="en-US" sz="3400" dirty="0"/>
          </a:p>
        </p:txBody>
      </p:sp>
      <p:sp>
        <p:nvSpPr>
          <p:cNvPr id="4" name="network card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ACTOR-CRITIC NETWORK</a:t>
            </a:r>
            <a:endParaRPr lang="en-US" sz="1100" dirty="0"/>
          </a:p>
        </p:txBody>
      </p:sp>
      <p:sp>
        <p:nvSpPr>
          <p:cNvPr id="6" name="layer 0"/>
          <p:cNvSpPr/>
          <p:nvPr/>
        </p:nvSpPr>
        <p:spPr>
          <a:xfrm>
            <a:off x="1280160" y="246888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598</a:t>
            </a:r>
            <a:endParaRPr lang="en-US" sz="1400" dirty="0"/>
          </a:p>
        </p:txBody>
      </p:sp>
      <p:sp>
        <p:nvSpPr>
          <p:cNvPr id="9" name="layer 1"/>
          <p:cNvSpPr/>
          <p:nvPr/>
        </p:nvSpPr>
        <p:spPr>
          <a:xfrm>
            <a:off x="1280160" y="324612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46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2" name="layer 2"/>
          <p:cNvSpPr/>
          <p:nvPr/>
        </p:nvSpPr>
        <p:spPr>
          <a:xfrm>
            <a:off x="1280160" y="402336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5" name="head Policy"/>
          <p:cNvSpPr/>
          <p:nvPr/>
        </p:nvSpPr>
        <p:spPr>
          <a:xfrm>
            <a:off x="128016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Policy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logits</a:t>
            </a:r>
            <a:endParaRPr lang="en-US" sz="1100" dirty="0"/>
          </a:p>
        </p:txBody>
      </p:sp>
      <p:sp>
        <p:nvSpPr>
          <p:cNvPr id="18" name="head Value"/>
          <p:cNvSpPr/>
          <p:nvPr/>
        </p:nvSpPr>
        <p:spPr>
          <a:xfrm>
            <a:off x="320040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scalar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Same weights play both seats — observations are always seen from the active player.</a:t>
            </a:r>
            <a:endParaRPr lang="en-US" sz="1200" dirty="0"/>
          </a:p>
        </p:txBody>
      </p:sp>
      <p:sp>
        <p:nvSpPr>
          <p:cNvPr id="22" name="ppo card"/>
          <p:cNvSpPr/>
          <p:nvPr/>
        </p:nvSpPr>
        <p:spPr>
          <a:xfrm>
            <a:off x="5943600" y="1783080"/>
            <a:ext cx="566928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LOOP</a:t>
            </a:r>
            <a:endParaRPr lang="en-US" sz="1100" dirty="0"/>
          </a:p>
        </p:txBody>
      </p:sp>
      <p:sp>
        <p:nvSpPr>
          <p:cNvPr id="24" name="loop step 0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423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Rollout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43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128 self-play rounds, alternating who leads</a:t>
            </a:r>
            <a:endParaRPr lang="en-US" sz="1300" dirty="0"/>
          </a:p>
        </p:txBody>
      </p:sp>
      <p:sp>
        <p:nvSpPr>
          <p:cNvPr id="28" name="loop step 1"/>
          <p:cNvSpPr/>
          <p:nvPr/>
        </p:nvSpPr>
        <p:spPr>
          <a:xfrm>
            <a:off x="6217920" y="3273552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Credit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47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reward sent back to the move that earned it</a:t>
            </a:r>
            <a:endParaRPr lang="en-US" sz="1300" dirty="0"/>
          </a:p>
        </p:txBody>
      </p:sp>
      <p:sp>
        <p:nvSpPr>
          <p:cNvPr id="32" name="loop step 2"/>
          <p:cNvSpPr/>
          <p:nvPr/>
        </p:nvSpPr>
        <p:spPr>
          <a:xfrm>
            <a:off x="6217920" y="4078224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0325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3525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Advantages computed per seat (γ = λ = 1)</a:t>
            </a:r>
            <a:endParaRPr lang="en-US" sz="1300" dirty="0"/>
          </a:p>
        </p:txBody>
      </p:sp>
      <p:sp>
        <p:nvSpPr>
          <p:cNvPr id="36" name="loop step 3"/>
          <p:cNvSpPr/>
          <p:nvPr/>
        </p:nvSpPr>
        <p:spPr>
          <a:xfrm>
            <a:off x="6217920" y="4882896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837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51572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Clip ε 0.2 · 4 epochs · batch 256 · Adam 3e-4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5669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→ evaluation every 50 000 games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EVALUATION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Measuring skill in a game of luck</a:t>
            </a:r>
            <a:endParaRPr lang="en-US" sz="3400" dirty="0"/>
          </a:p>
        </p:txBody>
      </p:sp>
      <p:sp>
        <p:nvSpPr>
          <p:cNvPr id="4" name="luck stat card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56%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Win rate of our best hand-crafted agent against a random player.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games. A plain evaluation's error bar (±3–7 pp) was larger than the progress we wanted to detect.</a:t>
            </a:r>
            <a:endParaRPr lang="en-US" sz="1300" dirty="0"/>
          </a:p>
        </p:txBody>
      </p:sp>
      <p:sp>
        <p:nvSpPr>
          <p:cNvPr id="8" name="duplicate card"/>
          <p:cNvSpPr/>
          <p:nvPr/>
        </p:nvSpPr>
        <p:spPr>
          <a:xfrm>
            <a:off x="4389120" y="1783080"/>
            <a:ext cx="72237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— AS IN BRIDGE</a:t>
            </a:r>
            <a:endParaRPr lang="en-US" sz="1100" dirty="0"/>
          </a:p>
        </p:txBody>
      </p:sp>
      <p:sp>
        <p:nvSpPr>
          <p:cNvPr id="10" name="deal box"/>
          <p:cNvSpPr/>
          <p:nvPr/>
        </p:nvSpPr>
        <p:spPr>
          <a:xfrm>
            <a:off x="4663440" y="2697480"/>
            <a:ext cx="155448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deal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A,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trump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dup game 0"/>
          <p:cNvSpPr/>
          <p:nvPr/>
        </p:nvSpPr>
        <p:spPr>
          <a:xfrm>
            <a:off x="6766560" y="269748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A   Opp: B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dup game 1"/>
          <p:cNvSpPr/>
          <p:nvPr/>
        </p:nvSpPr>
        <p:spPr>
          <a:xfrm>
            <a:off x="6766560" y="333756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337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B   Opp: 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6974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cards, seats swapped: the luck of the deal cancels out.</a:t>
            </a:r>
            <a:endParaRPr lang="en-US" sz="1300" dirty="0"/>
          </a:p>
        </p:txBody>
      </p:sp>
      <p:sp>
        <p:nvSpPr>
          <p:cNvPr id="22" name="precision card"/>
          <p:cNvSpPr/>
          <p:nvPr/>
        </p:nvSpPr>
        <p:spPr>
          <a:xfrm>
            <a:off x="4389120" y="4526280"/>
            <a:ext cx="7223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PRECISION, SAME 4 000 GAMES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0749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Heuristic vs Random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5074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±1.44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±0.74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540410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TrumpCount vs Heuristic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5404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±1.22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±0.52 pts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733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VoidExploit vs Heuristic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7332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±1.20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±0.41 pts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5074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4–9× fewer games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the same precision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ABLATIONS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unlocked learning</a:t>
            </a:r>
            <a:endParaRPr lang="en-US" sz="3400" dirty="0"/>
          </a:p>
        </p:txBody>
      </p:sp>
      <p:sp>
        <p:nvSpPr>
          <p:cNvPr id="4" name="fixes card"/>
          <p:cNvSpPr/>
          <p:nvPr/>
        </p:nvSpPr>
        <p:spPr>
          <a:xfrm>
            <a:off x="548640" y="1783080"/>
            <a:ext cx="45720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CHANGES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GAE per seat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072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Returns mixed both players' points — the signal "who wins the points" vanished. Bug fixed.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611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±1 win bonus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9959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Winning a round mostly depends on the deal: the bonus was noise.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rate 3e-4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1846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1e-3 made updates too abrupt (KL ≈ 0.04).</a:t>
            </a:r>
            <a:endParaRPr lang="en-US" sz="1300" dirty="0"/>
          </a:p>
        </p:txBody>
      </p:sp>
      <p:sp>
        <p:nvSpPr>
          <p:cNvPr id="15" name="ablation chart card"/>
          <p:cNvSpPr/>
          <p:nvPr/>
        </p:nvSpPr>
        <p:spPr>
          <a:xfrm>
            <a:off x="5394960" y="1783080"/>
            <a:ext cx="62179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MARGIN VS TRUMPCOUNT · 200K GAMES</a:t>
            </a:r>
            <a:endParaRPr lang="en-US" sz="1100" dirty="0"/>
          </a:p>
        </p:txBody>
      </p:sp>
      <p:graphicFrame>
        <p:nvGraphicFramePr>
          <p:cNvPr id="17" name="ablation chart" descr=""/>
          <p:cNvGraphicFramePr/>
          <p:nvPr/>
        </p:nvGraphicFramePr>
        <p:xfrm>
          <a:off x="5577840" y="2331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million games: the agent beats every baseline</a:t>
            </a:r>
            <a:endParaRPr lang="en-US" sz="3400" dirty="0"/>
          </a:p>
        </p:txBody>
      </p:sp>
      <p:pic>
        <p:nvPicPr>
          <p:cNvPr id="4" name="point margin learning curve" descr="fig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final TrumpCount"/>
          <p:cNvSpPr/>
          <p:nvPr/>
        </p:nvSpPr>
        <p:spPr>
          <a:xfrm>
            <a:off x="8595360" y="1783080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195560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TrumpCount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 · 56.0% wins</a:t>
            </a:r>
            <a:endParaRPr lang="en-US" sz="1000" dirty="0"/>
          </a:p>
        </p:txBody>
      </p:sp>
      <p:sp>
        <p:nvSpPr>
          <p:cNvPr id="9" name="final VoidExploit"/>
          <p:cNvSpPr/>
          <p:nvPr/>
        </p:nvSpPr>
        <p:spPr>
          <a:xfrm>
            <a:off x="8595360" y="2898648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30083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195560" y="3054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VoidExploit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56.2% wins</a:t>
            </a:r>
            <a:endParaRPr lang="en-US" sz="1000" dirty="0"/>
          </a:p>
        </p:txBody>
      </p:sp>
      <p:sp>
        <p:nvSpPr>
          <p:cNvPr id="13" name="final Heuristic"/>
          <p:cNvSpPr/>
          <p:nvPr/>
        </p:nvSpPr>
        <p:spPr>
          <a:xfrm>
            <a:off x="8595360" y="4014216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95560" y="4169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Heuristic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46542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 · 59.2% wins</a:t>
            </a:r>
            <a:endParaRPr lang="en-US" sz="1000" dirty="0"/>
          </a:p>
        </p:txBody>
      </p:sp>
      <p:sp>
        <p:nvSpPr>
          <p:cNvPr id="17" name="final Random"/>
          <p:cNvSpPr/>
          <p:nvPr/>
        </p:nvSpPr>
        <p:spPr>
          <a:xfrm>
            <a:off x="8595360" y="5129784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52395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+12.5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19556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Random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5769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±0.6 · 63.1% wins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WIN RATE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Above 56% against every baseline</a:t>
            </a:r>
            <a:endParaRPr lang="en-US" sz="3400" dirty="0"/>
          </a:p>
        </p:txBody>
      </p:sp>
      <p:pic>
        <p:nvPicPr>
          <p:cNvPr id="4" name="win rate learning curve" descr="fig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win stat card"/>
          <p:cNvSpPr/>
          <p:nvPr/>
        </p:nvSpPr>
        <p:spPr>
          <a:xfrm>
            <a:off x="8595360" y="1783080"/>
            <a:ext cx="3017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56.0%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8346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wins vs TrumpCount, our strongest heuristic (±0.7 pp, final agent re-tested on 6 000 games)</a:t>
            </a:r>
            <a:endParaRPr lang="en-US" sz="1300" dirty="0"/>
          </a:p>
        </p:txBody>
      </p:sp>
      <p:sp>
        <p:nvSpPr>
          <p:cNvPr id="8" name="ceiling card"/>
          <p:cNvSpPr/>
          <p:nvPr/>
        </p:nvSpPr>
        <p:spPr>
          <a:xfrm>
            <a:off x="8595360" y="4023360"/>
            <a:ext cx="30175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2396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NOT 80%?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4553712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games: even TrumpCount only wins 56% against a random player.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IN CONTEXT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Putting 56% in context</a:t>
            </a:r>
            <a:endParaRPr lang="en-US" sz="3400" dirty="0"/>
          </a:p>
        </p:txBody>
      </p:sp>
      <p:sp>
        <p:nvSpPr>
          <p:cNvPr id="4" name="context table card"/>
          <p:cNvSpPr/>
          <p:nvPr/>
        </p:nvSpPr>
        <p:spPr>
          <a:xfrm>
            <a:off x="548640" y="1783080"/>
            <a:ext cx="7406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68580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73736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MATCH-UP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 RATE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POINTS / GAME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HAND-CRAFTED AGENTS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Random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50.1%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+0.4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Heuristic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52.1%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+3.9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VoidExploit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+7.3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+7.9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Heuristic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54.6%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+3.8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OUR PPO AGENT (3M GAMES)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3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Random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63.1%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+12.5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Heuristic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59.2%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+8.3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PPO vs VoidExploit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56.2%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+5.7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TrumpCount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56.0%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+5.0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</a:tbl>
          </a:graphicData>
        </a:graphic>
      </p:graphicFrame>
      <p:sp>
        <p:nvSpPr>
          <p:cNvPr id="6" name="context takeaway card"/>
          <p:cNvSpPr/>
          <p:nvPr/>
        </p:nvSpPr>
        <p:spPr>
          <a:xfrm>
            <a:off x="8229600" y="1783080"/>
            <a:ext cx="3383280" cy="434340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THE TABLE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4231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Random vs Random = 50%: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evaluation is fair.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best heuristic beats a random player by only 56%: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deal decides most games.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PPO wins 56% against TrumpCount — as often as TrumpCount wins against a random player.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53949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· ≥ 6 000 games per match-up · win rate ±0.6–0.9 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FULL GAMES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We kept losing to it — so why only 63%?</a:t>
            </a:r>
            <a:endParaRPr lang="en-US" sz="3400" dirty="0"/>
          </a:p>
        </p:txBody>
      </p:sp>
      <p:sp>
        <p:nvSpPr>
          <p:cNvPr id="4" name="reasoning card"/>
          <p:cNvSpPr/>
          <p:nvPr/>
        </p:nvSpPr>
        <p:spPr>
          <a:xfrm>
            <a:off x="548640" y="1783080"/>
            <a:ext cx="50292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957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 felt much stronger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7249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Playing against it ourselves, we lost most games: 63% of rounds won vs Random looked far too low.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101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3101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 built a cheater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393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sees the opponent's hand and plays optimally — yet wins only 76% of rounds vs Random.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245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224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Luck dominates one round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37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Even perfect information cannot rescue a bad hand.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389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1389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Evaluate like real Belote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4681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Full games, first to 501 points (~10 rounds): luck averages out.</a:t>
            </a:r>
            <a:endParaRPr lang="en-US" sz="1200" dirty="0"/>
          </a:p>
        </p:txBody>
      </p:sp>
      <p:sp>
        <p:nvSpPr>
          <p:cNvPr id="18" name="full games table card"/>
          <p:cNvSpPr/>
          <p:nvPr/>
        </p:nvSpPr>
        <p:spPr>
          <a:xfrm>
            <a:off x="5852160" y="1783080"/>
            <a:ext cx="57607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2011680"/>
          <a:ext cx="5303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MATCH-UP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ROUNDS WON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GAMES WON (501)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Random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51%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Heuristic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Heuristic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VoidExploit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TrumpCount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Cheater*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76%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8C99A8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080760" y="5532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sees the opponent's hand and plays optimally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games · 1 000 per match-up (400 for the cheater) · ±2 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REPRODUCIBILITY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Three independent runs, the same result</a:t>
            </a:r>
            <a:endParaRPr lang="en-US" sz="3400" dirty="0"/>
          </a:p>
        </p:txBody>
      </p:sp>
      <p:pic>
        <p:nvPicPr>
          <p:cNvPr id="4" name="three seeds learning curves" descr="fig_see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seeds table card"/>
          <p:cNvSpPr/>
          <p:nvPr/>
        </p:nvSpPr>
        <p:spPr>
          <a:xfrm>
            <a:off x="8595360" y="1783080"/>
            <a:ext cx="30175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TRUMPCOUNT AT 2M GAMES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+4.35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652760" y="23774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55.9%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239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+4.94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652760" y="2834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56.8%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32918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55.9%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pts / game · win rate · ±0.4 pts each</a:t>
            </a:r>
            <a:endParaRPr lang="en-US" sz="1000" dirty="0"/>
          </a:p>
        </p:txBody>
      </p:sp>
      <p:sp>
        <p:nvSpPr>
          <p:cNvPr id="17" name="seeds mean card"/>
          <p:cNvSpPr/>
          <p:nvPr/>
        </p:nvSpPr>
        <p:spPr>
          <a:xfrm>
            <a:off x="8595360" y="4709160"/>
            <a:ext cx="30175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48463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+4.8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±0.4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54406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mean across seeds — the spread is no larger than measurement noise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SELF-PLAY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 progress in self-play — until ~2M games</a:t>
            </a:r>
            <a:endParaRPr lang="en-US" sz="3400" dirty="0"/>
          </a:p>
        </p:txBody>
      </p:sp>
      <p:sp>
        <p:nvSpPr>
          <p:cNvPr id="4" name="checkpoint chart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AGENT VS ITS OWN EARLIER VERSIONS</a:t>
            </a:r>
            <a:endParaRPr lang="en-US" sz="1100" dirty="0"/>
          </a:p>
        </p:txBody>
      </p:sp>
      <p:graphicFrame>
        <p:nvGraphicFramePr>
          <p:cNvPr id="6" name="checkpoint chart" descr=""/>
          <p:cNvGraphicFramePr/>
          <p:nvPr/>
        </p:nvGraphicFramePr>
        <p:xfrm>
          <a:off x="685800" y="233172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Opponent checkpoint (training games) · 1 000 duplicate deals each · ±0.5–0.9 pts</a:t>
            </a:r>
            <a:endParaRPr lang="en-US" sz="1100" dirty="0"/>
          </a:p>
        </p:txBody>
      </p:sp>
      <p:sp>
        <p:nvSpPr>
          <p:cNvPr id="8" name="plateau takeaway card"/>
          <p:cNvSpPr/>
          <p:nvPr/>
        </p:nvSpPr>
        <p:spPr>
          <a:xfrm>
            <a:off x="7772400" y="1783080"/>
            <a:ext cx="3840480" cy="43434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improves against itself,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only against our heuristics.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Gains shrink, then stop near 1.5–2M games: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last million added nothing.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Going further needs a better agent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(memory, bigger net, league self-play), not longer training.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BEHAVIOUR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agent learned on its own</a:t>
            </a:r>
            <a:endParaRPr lang="en-US" sz="3400" dirty="0"/>
          </a:p>
        </p:txBody>
      </p:sp>
      <p:sp>
        <p:nvSpPr>
          <p:cNvPr id="4" name="good deal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HAND, TWO PLAYERS · TRUMP ♦</a:t>
            </a:r>
            <a:endParaRPr lang="en-US" sz="1100" dirty="0"/>
          </a:p>
        </p:txBody>
      </p:sp>
      <p:sp>
        <p:nvSpPr>
          <p:cNvPr id="6" name="card 8D"/>
          <p:cNvSpPr/>
          <p:nvPr/>
        </p:nvSpPr>
        <p:spPr>
          <a:xfrm>
            <a:off x="8229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8" name="card QD"/>
          <p:cNvSpPr/>
          <p:nvPr/>
        </p:nvSpPr>
        <p:spPr>
          <a:xfrm>
            <a:off x="14630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0" name="card 10D"/>
          <p:cNvSpPr/>
          <p:nvPr/>
        </p:nvSpPr>
        <p:spPr>
          <a:xfrm>
            <a:off x="21031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2" name="card AD"/>
          <p:cNvSpPr/>
          <p:nvPr/>
        </p:nvSpPr>
        <p:spPr>
          <a:xfrm>
            <a:off x="274320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4" name="card 7S"/>
          <p:cNvSpPr/>
          <p:nvPr/>
        </p:nvSpPr>
        <p:spPr>
          <a:xfrm>
            <a:off x="338328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♠</a:t>
            </a:r>
            <a:endParaRPr lang="en-US" sz="1500" dirty="0"/>
          </a:p>
        </p:txBody>
      </p:sp>
      <p:sp>
        <p:nvSpPr>
          <p:cNvPr id="16" name="card 10H"/>
          <p:cNvSpPr/>
          <p:nvPr/>
        </p:nvSpPr>
        <p:spPr>
          <a:xfrm>
            <a:off x="40233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1500" dirty="0"/>
          </a:p>
        </p:txBody>
      </p:sp>
      <p:sp>
        <p:nvSpPr>
          <p:cNvPr id="18" name="card KC"/>
          <p:cNvSpPr/>
          <p:nvPr/>
        </p:nvSpPr>
        <p:spPr>
          <a:xfrm>
            <a:off x="46634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0" name="card 10C"/>
          <p:cNvSpPr/>
          <p:nvPr/>
        </p:nvSpPr>
        <p:spPr>
          <a:xfrm>
            <a:off x="53035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Big trumps — but not the Jack or the Nine, the opponent holds both.</a:t>
            </a:r>
            <a:endParaRPr lang="en-US" sz="1300" dirty="0"/>
          </a:p>
        </p:txBody>
      </p:sp>
      <p:sp>
        <p:nvSpPr>
          <p:cNvPr id="23" name="deal play 0"/>
          <p:cNvSpPr/>
          <p:nvPr/>
        </p:nvSpPr>
        <p:spPr>
          <a:xfrm>
            <a:off x="822960" y="374904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3840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TrumpCount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Leads the Ace of trump at once → captured by the Jack (−31 pts).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40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27" name="deal play 1"/>
          <p:cNvSpPr/>
          <p:nvPr/>
        </p:nvSpPr>
        <p:spPr>
          <a:xfrm>
            <a:off x="822960" y="484632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PPO agent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4937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Ducks under the Jack with the 8, flushes out the Nine with the Queen, then cashes 10 + Ace as masters.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3504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31" name="learned card"/>
          <p:cNvSpPr/>
          <p:nvPr/>
        </p:nvSpPr>
        <p:spPr>
          <a:xfrm>
            <a:off x="7772400" y="1783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ALONE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Wait for the opponent's top trumps to fall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Profitable ruffs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 master cards at the end</a:t>
            </a:r>
            <a:endParaRPr lang="en-US" sz="1500" dirty="0"/>
          </a:p>
        </p:txBody>
      </p:sp>
      <p:sp>
        <p:nvSpPr>
          <p:cNvPr id="34" name="mistake card"/>
          <p:cNvSpPr/>
          <p:nvPr/>
        </p:nvSpPr>
        <p:spPr>
          <a:xfrm>
            <a:off x="7772400" y="4069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WRONG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Leads a Ten while the Ace is still out (−21 pts), with 100% confidence.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weak memory of which high cards remain.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we stand — and what comes next</a:t>
            </a:r>
            <a:endParaRPr lang="en-US" sz="3400" dirty="0"/>
          </a:p>
        </p:txBody>
      </p:sp>
      <p:sp>
        <p:nvSpPr>
          <p:cNvPr id="4" name="done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Tested Belote environment, 4 baselines, PPO from scratch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Duplicate-deal evaluation: 2–3× tighter error bars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Fixed 2 silent bugs (perspective leak, GAE across seats)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Ablations: removing the win bonus is the key change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3M games: +5.0 pts / 56% wins vs our best heuristic — reproduced in 3 independent runs</a:t>
            </a:r>
            <a:endParaRPr lang="en-US" sz="1500" dirty="0"/>
          </a:p>
        </p:txBody>
      </p:sp>
      <p:sp>
        <p:nvSpPr>
          <p:cNvPr id="7" name="next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Memory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LSTM or a belief table of the opponent's cards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918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League self-play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Train against a pool of past versions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160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60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Trump choice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Let the agent bid the trump suit (Phase 4)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029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Human vs agent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766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Plug the trained agent into the playable CLI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Noa Curiel  &amp;  Yoni Benabou</a:t>
            </a:r>
            <a:endParaRPr lang="en-US" sz="1800" dirty="0"/>
          </a:p>
        </p:txBody>
      </p:sp>
      <p:sp>
        <p:nvSpPr>
          <p:cNvPr id="5" name="end 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7" name="end 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9" name="end 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1" name="end 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lote RL Dark">
  <a:themeElements>
    <a:clrScheme name="Belote RL Dark">
      <a:dk1>
        <a:srgbClr val="E6EBF0"/>
      </a:dk1>
      <a:lt1>
        <a:srgbClr val="0A0E13"/>
      </a:lt1>
      <a:dk2>
        <a:srgbClr val="8C99A8"/>
      </a:dk2>
      <a:lt2>
        <a:srgbClr val="121922"/>
      </a:lt2>
      <a:accent1>
        <a:srgbClr val="2DE2A6"/>
      </a:accent1>
      <a:accent2>
        <a:srgbClr val="F2545B"/>
      </a:accent2>
      <a:accent3>
        <a:srgbClr val="5B6B7D"/>
      </a:accent3>
      <a:accent4>
        <a:srgbClr val="7D8B9B"/>
      </a:accent4>
      <a:accent5>
        <a:srgbClr val="A9B4C0"/>
      </a:accent5>
      <a:accent6>
        <a:srgbClr val="243140"/>
      </a:accent6>
      <a:hlink>
        <a:srgbClr val="2DE2A6"/>
      </a:hlink>
      <a:folHlink>
        <a:srgbClr val="A9B4C0"/>
      </a:folHlink>
    </a:clrScheme>
    <a:fontScheme name="Belote RL Dar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to Play Belote with Reinforcement Learning</dc:title>
  <dc:subject>PptxGenJS Presentation</dc:subject>
  <dc:creator>Noa Curiel, Yoni Benabou</dc:creator>
  <cp:lastModifiedBy>Noa Curiel, Yoni Benabou</cp:lastModifiedBy>
  <cp:revision>1</cp:revision>
  <dcterms:created xsi:type="dcterms:W3CDTF">2026-10-22T13:30:49Z</dcterms:created>
  <dcterms:modified xsi:type="dcterms:W3CDTF">2026-10-22T13:30:49Z</dcterms:modified>
</cp:coreProperties>
</file>